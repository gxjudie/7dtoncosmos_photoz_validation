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06d2449f6cb4b3f" /><Relationship Type="http://schemas.openxmlformats.org/officeDocument/2006/relationships/extended-properties" Target="/docProps/app.xml" Id="R804189957c5e472d" /><Relationship Type="http://schemas.openxmlformats.org/officeDocument/2006/relationships/officeDocument" Target="/ppt/presentation.xml" Id="R9d731b061e434988" /></Relationships>
</file>

<file path=ppt/presentation.xml><?xml version="1.0" encoding="utf-8"?>
<p:presentation xmlns:p="http://schemas.openxmlformats.org/presentationml/2006/main">
  <p:sldMasterIdLst>
    <p:sldMasterId xmlns:r="http://schemas.openxmlformats.org/officeDocument/2006/relationships" id="2147483648" r:id="R5d980385e57b47b9"/>
  </p:sldMasterIdLst>
  <p:notesMasterIdLst>
    <p:notesMasterId xmlns:r="http://schemas.openxmlformats.org/officeDocument/2006/relationships" r:id="R9d30ec40d1154a28"/>
  </p:notesMasterIdLst>
  <p:sldIdLst>
    <p:sldId xmlns:r="http://schemas.openxmlformats.org/officeDocument/2006/relationships" id="256" r:id="R311882f17a374009"/>
    <p:sldId xmlns:r="http://schemas.openxmlformats.org/officeDocument/2006/relationships" id="257" r:id="R0009a3931a33441f"/>
    <p:sldId xmlns:r="http://schemas.openxmlformats.org/officeDocument/2006/relationships" id="258" r:id="Rd04037d7d80b495c"/>
    <p:sldId xmlns:r="http://schemas.openxmlformats.org/officeDocument/2006/relationships" id="259" r:id="R4da187fceb1b44a1"/>
    <p:sldId xmlns:r="http://schemas.openxmlformats.org/officeDocument/2006/relationships" id="260" r:id="R2fda21611d0b468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aaea8ce6d2d4822" /><Relationship Type="http://schemas.openxmlformats.org/officeDocument/2006/relationships/slideMaster" Target="/ppt/slideMasters/slideMaster1.xml" Id="R5d980385e57b47b9" /><Relationship Type="http://schemas.openxmlformats.org/officeDocument/2006/relationships/notesMaster" Target="/ppt/notesMasters/notesMaster1.xml" Id="R9d30ec40d1154a28" /><Relationship Type="http://schemas.openxmlformats.org/officeDocument/2006/relationships/presProps" Target="/ppt/presProps.xml" Id="Rae76897d5e3b4de8" /><Relationship Type="http://schemas.openxmlformats.org/officeDocument/2006/relationships/tableStyles" Target="/ppt/tableStyles.xml" Id="Re2bf7dd3b11548a5" /><Relationship Type="http://schemas.openxmlformats.org/officeDocument/2006/relationships/slide" Target="/ppt/slides/slide1.xml" Id="R311882f17a374009" /><Relationship Type="http://schemas.openxmlformats.org/officeDocument/2006/relationships/slide" Target="/ppt/slides/slide2.xml" Id="R0009a3931a33441f" /><Relationship Type="http://schemas.openxmlformats.org/officeDocument/2006/relationships/slide" Target="/ppt/slides/slide3.xml" Id="Rd04037d7d80b495c" /><Relationship Type="http://schemas.openxmlformats.org/officeDocument/2006/relationships/slide" Target="/ppt/slides/slide4.xml" Id="R4da187fceb1b44a1" /><Relationship Type="http://schemas.openxmlformats.org/officeDocument/2006/relationships/slide" Target="/ppt/slides/slide5.xml" Id="R2fda21611d0b468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43947156a164b5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8b3a58e0c8d4865" /><Relationship Type="http://schemas.openxmlformats.org/officeDocument/2006/relationships/notesMaster" Target="/ppt/notesMasters/notesMaster1.xml" Id="R4d3b92f83d2d46a9" /></Relationships>
</file>

<file path=ppt/notesSlides/_rels/notesSlide2.xml.rels>&#65279;<?xml version="1.0" encoding="utf-8"?><Relationships xmlns="http://schemas.openxmlformats.org/package/2006/relationships"><Relationship Type="http://schemas.openxmlformats.org/officeDocument/2006/relationships/slide" Target="/ppt/slides/slide2.xml" Id="R43bab16b30754380" /><Relationship Type="http://schemas.openxmlformats.org/officeDocument/2006/relationships/notesMaster" Target="/ppt/notesMasters/notesMaster1.xml" Id="R668ac927b766478b" /></Relationships>
</file>

<file path=ppt/notesSlides/_rels/notesSlide3.xml.rels>&#65279;<?xml version="1.0" encoding="utf-8"?><Relationships xmlns="http://schemas.openxmlformats.org/package/2006/relationships"><Relationship Type="http://schemas.openxmlformats.org/officeDocument/2006/relationships/slide" Target="/ppt/slides/slide3.xml" Id="R8488a894ba5e45e6" /><Relationship Type="http://schemas.openxmlformats.org/officeDocument/2006/relationships/notesMaster" Target="/ppt/notesMasters/notesMaster1.xml" Id="R908aa2e4056f4c02" /></Relationships>
</file>

<file path=ppt/notesSlides/_rels/notesSlide4.xml.rels>&#65279;<?xml version="1.0" encoding="utf-8"?><Relationships xmlns="http://schemas.openxmlformats.org/package/2006/relationships"><Relationship Type="http://schemas.openxmlformats.org/officeDocument/2006/relationships/slide" Target="/ppt/slides/slide4.xml" Id="R8e18b8a2b67a4861" /><Relationship Type="http://schemas.openxmlformats.org/officeDocument/2006/relationships/notesMaster" Target="/ppt/notesMasters/notesMaster1.xml" Id="R37f57b9ea2e04915" /></Relationships>
</file>

<file path=ppt/notesSlides/_rels/notesSlide5.xml.rels>&#65279;<?xml version="1.0" encoding="utf-8"?><Relationships xmlns="http://schemas.openxmlformats.org/package/2006/relationships"><Relationship Type="http://schemas.openxmlformats.org/officeDocument/2006/relationships/slide" Target="/ppt/slides/slide5.xml" Id="R3ad3e1c1dbc74e26" /><Relationship Type="http://schemas.openxmlformats.org/officeDocument/2006/relationships/notesMaster" Target="/ppt/notesMasters/notesMaster1.xml" Id="R55a745b03a0d4a5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Hello. Today I will show how I matched sources in the 7DT COSMOS1 data. This catalog is one step toward testing redshift estimates. I started with 20 separate band catalogs. I found and measured sources in each band. After quality cuts, I used 78,882 detections from the shared area. I first linked the 7DT detections across bands. Then I compared the new 7DT catalog with FINALCAT.</a:t>
            </a:r>
          </a:p>
          <a:p xmlns:a="http://schemas.openxmlformats.org/drawingml/2006/main">
            <a:r>
              <a:t/>
            </a:r>
          </a:p>
          <a:p xmlns:a="http://schemas.openxmlformats.org/drawingml/2006/main">
            <a:r>
              <a:t>Source: presentation/2026-10-02/matching_presentation_plan.md; output/COSMOS1/singlebandphot/matching/figures/singleband_input_summary.png.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images share the same pixel grid. I processed the bands in wavelength order, starting with m400. A source position is less certain when the image is less sharp or the signal is weaker. So I gave each band its own position error. For each new source, I compared its distance from the current master with their combined error. I kept pairs within three times that error. When a source joined a master, I updated the master position. Better positions received more weight. This made one position for each linked object.</a:t>
            </a:r>
          </a:p>
          <a:p xmlns:a="http://schemas.openxmlformats.org/drawingml/2006/main">
            <a:r>
              <a:t/>
            </a:r>
          </a:p>
          <a:p xmlns:a="http://schemas.openxmlformats.org/drawingml/2006/main">
            <a:r>
              <a:t>Source: presentation/2026-10-02/matching_presentation_plan.md.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Next, I checked the final 7DT masters. For each member, I measured its distance from the final master position. I divided this distance by the expected position error. Most members are close to their final master. In total, 99.85 percent are within three times the error. Only 117 of 78,882 members are outside this range. The final catalog has 19,489 7DT masters. This check shows good position agreement within the catalog. It does not prove that every match is correct.</a:t>
            </a:r>
          </a:p>
          <a:p xmlns:a="http://schemas.openxmlformats.org/drawingml/2006/main">
            <a:r>
              <a:t/>
            </a:r>
          </a:p>
          <a:p xmlns:a="http://schemas.openxmlformats.org/drawingml/2006/main">
            <a:r>
              <a:t>Additional results: median normalized residual 0.364; 95th percentile 1.647; 99th percentile 2.333. The near-zero spike in assignment separation contains sources used to initialize masters. Source: presentation/2026-10-02/matching_presentation_plan.md; output/COSMOS1/singlebandphot/matching/figures/7dt_matching_summary.png.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then matched the 7DT masters to FINALCAT using sky positions. I tested three maximum distances. To estimate chance matches, I shifted the FINALCAT positions and ran the match again. I used eight shifted samples. At 0.5 arcseconds, there were 2,682 real matches. At 0.7 arcseconds, there were 2,977. The share of chance matches was about 3.6 percent. At 1.0 arcseconds, the number of real matches rose to 3,212. But the share of chance matches rose faster, to about 6.6 percent. I therefore chose 0.7 arcseconds. The median distance of the selected pairs is 0.205 arcseconds.</a:t>
            </a:r>
          </a:p>
          <a:p xmlns:a="http://schemas.openxmlformats.org/drawingml/2006/main">
            <a:r>
              <a:t/>
            </a:r>
          </a:p>
          <a:p xmlns:a="http://schemas.openxmlformats.org/drawingml/2006/main">
            <a:r>
              <a:t>Additional result: 95th percentile separation 0.578 arcseconds. Source: presentation/2026-10-02/matching_presentation_plan.md; output/COSMOS1/singlebandphot/matching/figures/finalcat_radius_diagnostics.png.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final result has 2,977 objects seen in both 7DT and FINALCAT. It also has 16,512 objects found only in 7DT, and 55,770 found only in FINALCAT. Together, they form a union catalog of 75,259 objects. The main points are simple. The 7DT matches use the position error of each band. The internal position check is strong. The FINALCAT radius has a chance-match test behind it. This catalog is ready for the next photo-z analysis. Thank you.</a:t>
            </a:r>
          </a:p>
          <a:p xmlns:a="http://schemas.openxmlformats.org/drawingml/2006/main">
            <a:r>
              <a:t/>
            </a:r>
          </a:p>
          <a:p xmlns:a="http://schemas.openxmlformats.org/drawingml/2006/main">
            <a:r>
              <a:t>Source: presentation/2026-10-02/matching_presentation_plan.md; output/COSMOS1/singlebandphot/matching/figures/master_population_summary.png.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701f0fd39744b2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2e7bedf996241a8" /><Relationship Type="http://schemas.openxmlformats.org/officeDocument/2006/relationships/slideLayout" Target="/ppt/slideLayouts/slideLayout1.xml" Id="R230a04200d2040e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30a04200d2040e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0348c5441c847a4" /><Relationship Type="http://schemas.openxmlformats.org/officeDocument/2006/relationships/image" Target="/ppt/media/image.png" Id="R1103266c539941df" /><Relationship Type="http://schemas.openxmlformats.org/officeDocument/2006/relationships/image" Target="/ppt/media/image2.png" Id="R343ec356cb7d4c1e" /><Relationship Type="http://schemas.openxmlformats.org/officeDocument/2006/relationships/notesSlide" Target="/ppt/notesSlides/notesSlide1.xml" Id="Rdf37373213c64ae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8c9c3f8582447ae" /><Relationship Type="http://schemas.openxmlformats.org/officeDocument/2006/relationships/notesSlide" Target="/ppt/notesSlides/notesSlide2.xml" Id="R1a07767c9fe142c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8a8ccb57fdf48f4" /><Relationship Type="http://schemas.openxmlformats.org/officeDocument/2006/relationships/image" Target="/ppt/media/image3.png" Id="Rc7f2932ddc064a02" /><Relationship Type="http://schemas.openxmlformats.org/officeDocument/2006/relationships/image" Target="/ppt/media/image4.png" Id="R07ac8c64572b4b15" /><Relationship Type="http://schemas.openxmlformats.org/officeDocument/2006/relationships/notesSlide" Target="/ppt/notesSlides/notesSlide3.xml" Id="R92261d2bbedc40f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af9e6427d614def" /><Relationship Type="http://schemas.openxmlformats.org/officeDocument/2006/relationships/image" Target="/ppt/media/image5.png" Id="R21dc41e746c843c6" /><Relationship Type="http://schemas.openxmlformats.org/officeDocument/2006/relationships/image" Target="/ppt/media/image6.png" Id="R63fcea8b68e1418a" /><Relationship Type="http://schemas.openxmlformats.org/officeDocument/2006/relationships/image" Target="/ppt/media/image7.png" Id="R222f04ffcb2e4bd0" /><Relationship Type="http://schemas.openxmlformats.org/officeDocument/2006/relationships/notesSlide" Target="/ppt/notesSlides/notesSlide4.xml" Id="R0bb866e171394d6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9d778f59f854aa9" /><Relationship Type="http://schemas.openxmlformats.org/officeDocument/2006/relationships/image" Target="/ppt/media/image8.png" Id="R3c5fd309bd81492d" /><Relationship Type="http://schemas.openxmlformats.org/officeDocument/2006/relationships/image" Target="/ppt/media/image9.png" Id="Rf28a1b36b01d4474" /><Relationship Type="http://schemas.openxmlformats.org/officeDocument/2006/relationships/notesSlide" Target="/ppt/notesSlides/notesSlide5.xml" Id="Rad6c75bccd7c4023" /></Relationships>
</file>

<file path=ppt/slides/slide1.xml><?xml version="1.0" encoding="utf-8"?>
<p:sld xmlns:p="http://schemas.openxmlformats.org/presentationml/2006/main">
  <p:cSld>
    <p:bg>
      <p:bgPr>
        <a:solidFill xmlns:a="http://schemas.openxmlformats.org/drawingml/2006/main">
          <a:srgbClr val="FBFCFE"/>
        </a:solidFill>
      </p:bgPr>
    </p:bg>
    <p:spTree>
      <p:nvGrpSpPr>
        <p:cNvPr id="1" name=""/>
        <p:cNvGrpSpPr/>
        <p:nvPr/>
      </p:nvGrpSpPr>
      <p:grpSpPr>
        <a:xfrm xmlns:a="http://schemas.openxmlformats.org/drawingml/2006/main"/>
      </p:grpSpPr>
      <p:sp>
        <p:nvSpPr>
          <p:cNvPr id="23" name="slide-1-title">
            <a:extLst xmlns:a="http://schemas.openxmlformats.org/drawingml/2006/main">
              <a:ext uri="{FF2B5EF4-FFF2-40B4-BE49-F238E27FC236}">
                <a16:creationId xmlns:a16="http://schemas.microsoft.com/office/drawing/2014/main" id="{626BBC86-5361-4157-A973-7F0673C29155}"/>
              </a:ext>
            </a:extLst>
          </p:cNvPr>
          <p:cNvSpPr>
            <a:spLocks xmlns:a="http://schemas.openxmlformats.org/drawingml/2006/main" noGrp="1"/>
          </p:cNvSpPr>
          <p:nvPr/>
        </p:nvSpPr>
        <p:spPr>
          <a:xfrm xmlns:a="http://schemas.openxmlformats.org/drawingml/2006/main">
            <a:off x="533400" y="266700"/>
            <a:ext cx="111252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50" b="1">
                <a:solidFill>
                  <a:srgbClr val="152334"/>
                </a:solidFill>
                <a:latin typeface="Arial"/>
                <a:ea typeface="Arial"/>
                <a:cs typeface="Arial"/>
              </a:defRPr>
            </a:pPr>
            <a:r>
              <a:rPr sz="2550" b="1">
                <a:solidFill>
                  <a:srgbClr val="152334"/>
                </a:solidFill>
                <a:latin typeface="Arial"/>
                <a:ea typeface="Arial"/>
                <a:cs typeface="Arial"/>
              </a:rPr>
              <a:t>7DT Single-band Matching in COSMOS1</a:t>
            </a:r>
          </a:p>
        </p:txBody>
      </p:sp>
      <p:sp>
        <p:nvSpPr>
          <p:cNvPr id="2" name="slide-1-subtitle">
            <a:extLst xmlns:a="http://schemas.openxmlformats.org/drawingml/2006/main">
              <a:ext uri="{FF2B5EF4-FFF2-40B4-BE49-F238E27FC236}">
                <a16:creationId xmlns:a16="http://schemas.microsoft.com/office/drawing/2014/main" id="{897B5394-988E-4612-BFDA-64EE351C2D11}"/>
              </a:ext>
            </a:extLst>
          </p:cNvPr>
          <p:cNvSpPr>
            <a:spLocks xmlns:a="http://schemas.openxmlformats.org/drawingml/2006/main" noGrp="1"/>
          </p:cNvSpPr>
          <p:nvPr/>
        </p:nvSpPr>
        <p:spPr>
          <a:xfrm xmlns:a="http://schemas.openxmlformats.org/drawingml/2006/main">
            <a:off x="552450" y="866775"/>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26272"/>
                </a:solidFill>
                <a:latin typeface="Arial"/>
                <a:ea typeface="Arial"/>
                <a:cs typeface="Arial"/>
              </a:defRPr>
            </a:pPr>
            <a:r>
              <a:rPr sz="1425" b="0">
                <a:solidFill>
                  <a:srgbClr val="526272"/>
                </a:solidFill>
                <a:latin typeface="Arial"/>
                <a:ea typeface="Arial"/>
                <a:cs typeface="Arial"/>
              </a:rPr>
              <a:t>From 20 band catalogs to a 75,259-object union catalog</a:t>
            </a:r>
          </a:p>
        </p:txBody>
      </p:sp>
      <p:sp>
        <p:nvSpPr>
          <p:cNvPr id="3" name="">
            <a:extLst xmlns:a="http://schemas.openxmlformats.org/drawingml/2006/main">
              <a:ext uri="{FF2B5EF4-FFF2-40B4-BE49-F238E27FC236}">
                <a16:creationId xmlns:a16="http://schemas.microsoft.com/office/drawing/2014/main" id="{D41A8DE7-A417-4E9E-B4A7-7A961D85EE44}"/>
              </a:ext>
            </a:extLst>
          </p:cNvPr>
          <p:cNvSpPr>
            <a:spLocks xmlns:a="http://schemas.openxmlformats.org/drawingml/2006/main" noGrp="1"/>
          </p:cNvSpPr>
          <p:nvPr/>
        </p:nvSpPr>
        <p:spPr>
          <a:xfrm xmlns:a="http://schemas.openxmlformats.org/drawingml/2006/main">
            <a:off x="552450" y="1133475"/>
            <a:ext cx="11087100" cy="0"/>
          </a:xfrm>
          <a:prstGeom xmlns:a="http://schemas.openxmlformats.org/drawingml/2006/main" prst="line">
            <a:avLst/>
          </a:prstGeom>
          <a:noFill xmlns:a="http://schemas.openxmlformats.org/drawingml/2006/main"/>
          <a:ln xmlns:a="http://schemas.openxmlformats.org/drawingml/2006/main" w="9525">
            <a:solidFill>
              <a:srgbClr val="D7DEE5"/>
            </a:solidFill>
            <a:prstDash val="solid"/>
          </a:ln>
        </p:spPr>
      </p:sp>
      <p:sp>
        <p:nvSpPr>
          <p:cNvPr id="4" name="7DT · COSMOS1">
            <a:extLst xmlns:a="http://schemas.openxmlformats.org/drawingml/2006/main">
              <a:ext uri="{FF2B5EF4-FFF2-40B4-BE49-F238E27FC236}">
                <a16:creationId xmlns:a16="http://schemas.microsoft.com/office/drawing/2014/main" id="{901BDFCC-B3B7-4D00-A988-19A1D4782149}"/>
              </a:ext>
            </a:extLst>
          </p:cNvPr>
          <p:cNvSpPr>
            <a:spLocks xmlns:a="http://schemas.openxmlformats.org/drawingml/2006/main" noGrp="1"/>
          </p:cNvSpPr>
          <p:nvPr/>
        </p:nvSpPr>
        <p:spPr>
          <a:xfrm xmlns:a="http://schemas.openxmlformats.org/drawingml/2006/main">
            <a:off x="552450" y="64770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0">
                <a:solidFill>
                  <a:srgbClr val="526272"/>
                </a:solidFill>
                <a:latin typeface="Arial"/>
                <a:ea typeface="Arial"/>
                <a:cs typeface="Arial"/>
              </a:defRPr>
            </a:pPr>
            <a:r>
              <a:rPr sz="1050" b="0">
                <a:solidFill>
                  <a:srgbClr val="526272"/>
                </a:solidFill>
                <a:latin typeface="Arial"/>
                <a:ea typeface="Arial"/>
                <a:cs typeface="Arial"/>
              </a:rPr>
              <a:t>7DT · COSMOS1</a:t>
            </a:r>
          </a:p>
        </p:txBody>
      </p:sp>
      <p:sp>
        <p:nvSpPr>
          <p:cNvPr id="5" name="1">
            <a:extLst xmlns:a="http://schemas.openxmlformats.org/drawingml/2006/main">
              <a:ext uri="{FF2B5EF4-FFF2-40B4-BE49-F238E27FC236}">
                <a16:creationId xmlns:a16="http://schemas.microsoft.com/office/drawing/2014/main" id="{EF2B5EC9-6EE4-4F56-8A6F-5FB456AD5001}"/>
              </a:ext>
            </a:extLst>
          </p:cNvPr>
          <p:cNvSpPr>
            <a:spLocks xmlns:a="http://schemas.openxmlformats.org/drawingml/2006/main" noGrp="1"/>
          </p:cNvSpPr>
          <p:nvPr/>
        </p:nvSpPr>
        <p:spPr>
          <a:xfrm xmlns:a="http://schemas.openxmlformats.org/drawingml/2006/main">
            <a:off x="11239500" y="64770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0">
                <a:solidFill>
                  <a:srgbClr val="526272"/>
                </a:solidFill>
                <a:latin typeface="Arial"/>
                <a:ea typeface="Arial"/>
                <a:cs typeface="Arial"/>
              </a:defRPr>
            </a:pPr>
            <a:r>
              <a:rPr sz="1050" b="0">
                <a:solidFill>
                  <a:srgbClr val="526272"/>
                </a:solidFill>
                <a:latin typeface="Arial"/>
                <a:ea typeface="Arial"/>
                <a:cs typeface="Arial"/>
              </a:rPr>
              <a:t>1</a:t>
            </a:r>
          </a:p>
        </p:txBody>
      </p:sp>
      <p:sp>
        <p:nvSpPr>
          <p:cNvPr id="6" name="20 band catalogs">
            <a:extLst xmlns:a="http://schemas.openxmlformats.org/drawingml/2006/main">
              <a:ext uri="{FF2B5EF4-FFF2-40B4-BE49-F238E27FC236}">
                <a16:creationId xmlns:a16="http://schemas.microsoft.com/office/drawing/2014/main" id="{D8704583-CC20-49D9-B6F6-F4D3BD295486}"/>
              </a:ext>
            </a:extLst>
          </p:cNvPr>
          <p:cNvSpPr>
            <a:spLocks xmlns:a="http://schemas.openxmlformats.org/drawingml/2006/main" noGrp="1"/>
          </p:cNvSpPr>
          <p:nvPr/>
        </p:nvSpPr>
        <p:spPr>
          <a:xfrm xmlns:a="http://schemas.openxmlformats.org/drawingml/2006/main">
            <a:off x="628650" y="1552575"/>
            <a:ext cx="4810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1">
                <a:solidFill>
                  <a:srgbClr val="152334"/>
                </a:solidFill>
                <a:latin typeface="Arial"/>
                <a:ea typeface="Arial"/>
                <a:cs typeface="Arial"/>
              </a:defRPr>
            </a:pPr>
            <a:r>
              <a:rPr sz="1875" b="1">
                <a:solidFill>
                  <a:srgbClr val="152334"/>
                </a:solidFill>
                <a:latin typeface="Arial"/>
                <a:ea typeface="Arial"/>
                <a:cs typeface="Arial"/>
              </a:rPr>
              <a:t>20 band catalogs</a:t>
            </a:r>
          </a:p>
        </p:txBody>
      </p:sp>
      <p:sp>
        <p:nvSpPr>
          <p:cNvPr id="7" name="78,882 selected detections">
            <a:extLst xmlns:a="http://schemas.openxmlformats.org/drawingml/2006/main">
              <a:ext uri="{FF2B5EF4-FFF2-40B4-BE49-F238E27FC236}">
                <a16:creationId xmlns:a16="http://schemas.microsoft.com/office/drawing/2014/main" id="{4D779649-A539-48D3-A407-9F1FFA245B27}"/>
              </a:ext>
            </a:extLst>
          </p:cNvPr>
          <p:cNvSpPr>
            <a:spLocks xmlns:a="http://schemas.openxmlformats.org/drawingml/2006/main" noGrp="1"/>
          </p:cNvSpPr>
          <p:nvPr/>
        </p:nvSpPr>
        <p:spPr>
          <a:xfrm xmlns:a="http://schemas.openxmlformats.org/drawingml/2006/main">
            <a:off x="628650" y="1905000"/>
            <a:ext cx="4810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526272"/>
                </a:solidFill>
                <a:latin typeface="Arial"/>
                <a:ea typeface="Arial"/>
                <a:cs typeface="Arial"/>
              </a:defRPr>
            </a:pPr>
            <a:r>
              <a:rPr sz="1500" b="0">
                <a:solidFill>
                  <a:srgbClr val="526272"/>
                </a:solidFill>
                <a:latin typeface="Arial"/>
                <a:ea typeface="Arial"/>
                <a:cs typeface="Arial"/>
              </a:rPr>
              <a:t>78,882 selected detections</a:t>
            </a:r>
          </a:p>
        </p:txBody>
      </p:sp>
      <p:sp>
        <p:nvSpPr>
          <p:cNvPr id="8" name="">
            <a:extLst xmlns:a="http://schemas.openxmlformats.org/drawingml/2006/main">
              <a:ext uri="{FF2B5EF4-FFF2-40B4-BE49-F238E27FC236}">
                <a16:creationId xmlns:a16="http://schemas.microsoft.com/office/drawing/2014/main" id="{00066F56-797E-4716-A83D-70AD337EB44D}"/>
              </a:ext>
            </a:extLst>
          </p:cNvPr>
          <p:cNvSpPr>
            <a:spLocks xmlns:a="http://schemas.openxmlformats.org/drawingml/2006/main" noGrp="1"/>
          </p:cNvSpPr>
          <p:nvPr/>
        </p:nvSpPr>
        <p:spPr>
          <a:xfrm xmlns:a="http://schemas.openxmlformats.org/drawingml/2006/main">
            <a:off x="809625" y="2295525"/>
            <a:ext cx="0" cy="276225"/>
          </a:xfrm>
          <a:prstGeom xmlns:a="http://schemas.openxmlformats.org/drawingml/2006/main" prst="line">
            <a:avLst/>
          </a:prstGeom>
          <a:noFill xmlns:a="http://schemas.openxmlformats.org/drawingml/2006/main"/>
          <a:ln xmlns:a="http://schemas.openxmlformats.org/drawingml/2006/main" w="19050">
            <a:solidFill>
              <a:srgbClr val="1765A3"/>
            </a:solidFill>
            <a:prstDash val="solid"/>
          </a:ln>
        </p:spPr>
      </p:sp>
      <p:sp>
        <p:nvSpPr>
          <p:cNvPr id="9" name="↓">
            <a:extLst xmlns:a="http://schemas.openxmlformats.org/drawingml/2006/main">
              <a:ext uri="{FF2B5EF4-FFF2-40B4-BE49-F238E27FC236}">
                <a16:creationId xmlns:a16="http://schemas.microsoft.com/office/drawing/2014/main" id="{A4FD69D7-2F2A-4CB1-B3C5-989251AAD96E}"/>
              </a:ext>
            </a:extLst>
          </p:cNvPr>
          <p:cNvSpPr>
            <a:spLocks xmlns:a="http://schemas.openxmlformats.org/drawingml/2006/main" noGrp="1"/>
          </p:cNvSpPr>
          <p:nvPr/>
        </p:nvSpPr>
        <p:spPr>
          <a:xfrm xmlns:a="http://schemas.openxmlformats.org/drawingml/2006/main">
            <a:off x="714375" y="2295525"/>
            <a:ext cx="209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0">
                <a:solidFill>
                  <a:srgbClr val="1765A3"/>
                </a:solidFill>
                <a:latin typeface="Arial"/>
                <a:ea typeface="Arial"/>
                <a:cs typeface="Arial"/>
              </a:defRPr>
            </a:pPr>
            <a:r>
              <a:rPr sz="1650" b="0">
                <a:solidFill>
                  <a:srgbClr val="1765A3"/>
                </a:solidFill>
                <a:latin typeface="Arial"/>
                <a:ea typeface="Arial"/>
                <a:cs typeface="Arial"/>
              </a:rPr>
              <a:t>↓</a:t>
            </a:r>
          </a:p>
        </p:txBody>
      </p:sp>
      <p:sp>
        <p:nvSpPr>
          <p:cNvPr id="10" name="7DT cross-band match">
            <a:extLst xmlns:a="http://schemas.openxmlformats.org/drawingml/2006/main">
              <a:ext uri="{FF2B5EF4-FFF2-40B4-BE49-F238E27FC236}">
                <a16:creationId xmlns:a16="http://schemas.microsoft.com/office/drawing/2014/main" id="{54F19E7B-3140-483D-B496-C6362E7FE043}"/>
              </a:ext>
            </a:extLst>
          </p:cNvPr>
          <p:cNvSpPr>
            <a:spLocks xmlns:a="http://schemas.openxmlformats.org/drawingml/2006/main" noGrp="1"/>
          </p:cNvSpPr>
          <p:nvPr/>
        </p:nvSpPr>
        <p:spPr>
          <a:xfrm xmlns:a="http://schemas.openxmlformats.org/drawingml/2006/main">
            <a:off x="628650" y="2657475"/>
            <a:ext cx="4810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1">
                <a:solidFill>
                  <a:srgbClr val="152334"/>
                </a:solidFill>
                <a:latin typeface="Arial"/>
                <a:ea typeface="Arial"/>
                <a:cs typeface="Arial"/>
              </a:defRPr>
            </a:pPr>
            <a:r>
              <a:rPr sz="1875" b="1">
                <a:solidFill>
                  <a:srgbClr val="152334"/>
                </a:solidFill>
                <a:latin typeface="Arial"/>
                <a:ea typeface="Arial"/>
                <a:cs typeface="Arial"/>
              </a:rPr>
              <a:t>7DT cross-band match</a:t>
            </a:r>
          </a:p>
        </p:txBody>
      </p:sp>
      <p:sp>
        <p:nvSpPr>
          <p:cNvPr id="11" name="19,489 7DT masters">
            <a:extLst xmlns:a="http://schemas.openxmlformats.org/drawingml/2006/main">
              <a:ext uri="{FF2B5EF4-FFF2-40B4-BE49-F238E27FC236}">
                <a16:creationId xmlns:a16="http://schemas.microsoft.com/office/drawing/2014/main" id="{C63E22B6-4FF1-49B4-8D85-2764E67F48BE}"/>
              </a:ext>
            </a:extLst>
          </p:cNvPr>
          <p:cNvSpPr>
            <a:spLocks xmlns:a="http://schemas.openxmlformats.org/drawingml/2006/main" noGrp="1"/>
          </p:cNvSpPr>
          <p:nvPr/>
        </p:nvSpPr>
        <p:spPr>
          <a:xfrm xmlns:a="http://schemas.openxmlformats.org/drawingml/2006/main">
            <a:off x="628650" y="3009900"/>
            <a:ext cx="4810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526272"/>
                </a:solidFill>
                <a:latin typeface="Arial"/>
                <a:ea typeface="Arial"/>
                <a:cs typeface="Arial"/>
              </a:defRPr>
            </a:pPr>
            <a:r>
              <a:rPr sz="1500" b="0">
                <a:solidFill>
                  <a:srgbClr val="526272"/>
                </a:solidFill>
                <a:latin typeface="Arial"/>
                <a:ea typeface="Arial"/>
                <a:cs typeface="Arial"/>
              </a:rPr>
              <a:t>19,489 7DT masters</a:t>
            </a:r>
          </a:p>
        </p:txBody>
      </p:sp>
      <p:sp>
        <p:nvSpPr>
          <p:cNvPr id="12" name="">
            <a:extLst xmlns:a="http://schemas.openxmlformats.org/drawingml/2006/main">
              <a:ext uri="{FF2B5EF4-FFF2-40B4-BE49-F238E27FC236}">
                <a16:creationId xmlns:a16="http://schemas.microsoft.com/office/drawing/2014/main" id="{4460A5A8-A46A-467D-B720-DA432BB881B9}"/>
              </a:ext>
            </a:extLst>
          </p:cNvPr>
          <p:cNvSpPr>
            <a:spLocks xmlns:a="http://schemas.openxmlformats.org/drawingml/2006/main" noGrp="1"/>
          </p:cNvSpPr>
          <p:nvPr/>
        </p:nvSpPr>
        <p:spPr>
          <a:xfrm xmlns:a="http://schemas.openxmlformats.org/drawingml/2006/main">
            <a:off x="809625" y="3400425"/>
            <a:ext cx="0" cy="276225"/>
          </a:xfrm>
          <a:prstGeom xmlns:a="http://schemas.openxmlformats.org/drawingml/2006/main" prst="line">
            <a:avLst/>
          </a:prstGeom>
          <a:noFill xmlns:a="http://schemas.openxmlformats.org/drawingml/2006/main"/>
          <a:ln xmlns:a="http://schemas.openxmlformats.org/drawingml/2006/main" w="19050">
            <a:solidFill>
              <a:srgbClr val="1765A3"/>
            </a:solidFill>
            <a:prstDash val="solid"/>
          </a:ln>
        </p:spPr>
      </p:sp>
      <p:sp>
        <p:nvSpPr>
          <p:cNvPr id="13" name="↓">
            <a:extLst xmlns:a="http://schemas.openxmlformats.org/drawingml/2006/main">
              <a:ext uri="{FF2B5EF4-FFF2-40B4-BE49-F238E27FC236}">
                <a16:creationId xmlns:a16="http://schemas.microsoft.com/office/drawing/2014/main" id="{F68D3E42-C269-4CA5-995B-D069FEE9E3D7}"/>
              </a:ext>
            </a:extLst>
          </p:cNvPr>
          <p:cNvSpPr>
            <a:spLocks xmlns:a="http://schemas.openxmlformats.org/drawingml/2006/main" noGrp="1"/>
          </p:cNvSpPr>
          <p:nvPr/>
        </p:nvSpPr>
        <p:spPr>
          <a:xfrm xmlns:a="http://schemas.openxmlformats.org/drawingml/2006/main">
            <a:off x="714375" y="3400425"/>
            <a:ext cx="209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0">
                <a:solidFill>
                  <a:srgbClr val="1765A3"/>
                </a:solidFill>
                <a:latin typeface="Arial"/>
                <a:ea typeface="Arial"/>
                <a:cs typeface="Arial"/>
              </a:defRPr>
            </a:pPr>
            <a:r>
              <a:rPr sz="1650" b="0">
                <a:solidFill>
                  <a:srgbClr val="1765A3"/>
                </a:solidFill>
                <a:latin typeface="Arial"/>
                <a:ea typeface="Arial"/>
                <a:cs typeface="Arial"/>
              </a:rPr>
              <a:t>↓</a:t>
            </a:r>
          </a:p>
        </p:txBody>
      </p:sp>
      <p:sp>
        <p:nvSpPr>
          <p:cNvPr id="14" name="FINALCAT sky match">
            <a:extLst xmlns:a="http://schemas.openxmlformats.org/drawingml/2006/main">
              <a:ext uri="{FF2B5EF4-FFF2-40B4-BE49-F238E27FC236}">
                <a16:creationId xmlns:a16="http://schemas.microsoft.com/office/drawing/2014/main" id="{B6AED91C-4E57-4F59-BA2D-E2C6161C5308}"/>
              </a:ext>
            </a:extLst>
          </p:cNvPr>
          <p:cNvSpPr>
            <a:spLocks xmlns:a="http://schemas.openxmlformats.org/drawingml/2006/main" noGrp="1"/>
          </p:cNvSpPr>
          <p:nvPr/>
        </p:nvSpPr>
        <p:spPr>
          <a:xfrm xmlns:a="http://schemas.openxmlformats.org/drawingml/2006/main">
            <a:off x="628650" y="3762375"/>
            <a:ext cx="4810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1">
                <a:solidFill>
                  <a:srgbClr val="152334"/>
                </a:solidFill>
                <a:latin typeface="Arial"/>
                <a:ea typeface="Arial"/>
                <a:cs typeface="Arial"/>
              </a:defRPr>
            </a:pPr>
            <a:r>
              <a:rPr sz="1875" b="1">
                <a:solidFill>
                  <a:srgbClr val="152334"/>
                </a:solidFill>
                <a:latin typeface="Arial"/>
                <a:ea typeface="Arial"/>
                <a:cs typeface="Arial"/>
              </a:rPr>
              <a:t>FINALCAT sky match</a:t>
            </a:r>
          </a:p>
        </p:txBody>
      </p:sp>
      <p:sp>
        <p:nvSpPr>
          <p:cNvPr id="15" name="2,977 shared objects">
            <a:extLst xmlns:a="http://schemas.openxmlformats.org/drawingml/2006/main">
              <a:ext uri="{FF2B5EF4-FFF2-40B4-BE49-F238E27FC236}">
                <a16:creationId xmlns:a16="http://schemas.microsoft.com/office/drawing/2014/main" id="{792F41B5-BCDC-434F-9183-4DA1AE101FD5}"/>
              </a:ext>
            </a:extLst>
          </p:cNvPr>
          <p:cNvSpPr>
            <a:spLocks xmlns:a="http://schemas.openxmlformats.org/drawingml/2006/main" noGrp="1"/>
          </p:cNvSpPr>
          <p:nvPr/>
        </p:nvSpPr>
        <p:spPr>
          <a:xfrm xmlns:a="http://schemas.openxmlformats.org/drawingml/2006/main">
            <a:off x="628650" y="4114800"/>
            <a:ext cx="4810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526272"/>
                </a:solidFill>
                <a:latin typeface="Arial"/>
                <a:ea typeface="Arial"/>
                <a:cs typeface="Arial"/>
              </a:defRPr>
            </a:pPr>
            <a:r>
              <a:rPr sz="1500" b="0">
                <a:solidFill>
                  <a:srgbClr val="526272"/>
                </a:solidFill>
                <a:latin typeface="Arial"/>
                <a:ea typeface="Arial"/>
                <a:cs typeface="Arial"/>
              </a:rPr>
              <a:t>2,977 shared objects</a:t>
            </a:r>
          </a:p>
        </p:txBody>
      </p:sp>
      <p:sp>
        <p:nvSpPr>
          <p:cNvPr id="16" name="">
            <a:extLst xmlns:a="http://schemas.openxmlformats.org/drawingml/2006/main">
              <a:ext uri="{FF2B5EF4-FFF2-40B4-BE49-F238E27FC236}">
                <a16:creationId xmlns:a16="http://schemas.microsoft.com/office/drawing/2014/main" id="{EBD9F912-6376-44A9-B9B1-243292F1C4B2}"/>
              </a:ext>
            </a:extLst>
          </p:cNvPr>
          <p:cNvSpPr>
            <a:spLocks xmlns:a="http://schemas.openxmlformats.org/drawingml/2006/main" noGrp="1"/>
          </p:cNvSpPr>
          <p:nvPr/>
        </p:nvSpPr>
        <p:spPr>
          <a:xfrm xmlns:a="http://schemas.openxmlformats.org/drawingml/2006/main">
            <a:off x="809625" y="4505325"/>
            <a:ext cx="0" cy="276225"/>
          </a:xfrm>
          <a:prstGeom xmlns:a="http://schemas.openxmlformats.org/drawingml/2006/main" prst="line">
            <a:avLst/>
          </a:prstGeom>
          <a:noFill xmlns:a="http://schemas.openxmlformats.org/drawingml/2006/main"/>
          <a:ln xmlns:a="http://schemas.openxmlformats.org/drawingml/2006/main" w="19050">
            <a:solidFill>
              <a:srgbClr val="1765A3"/>
            </a:solidFill>
            <a:prstDash val="solid"/>
          </a:ln>
        </p:spPr>
      </p:sp>
      <p:sp>
        <p:nvSpPr>
          <p:cNvPr id="17" name="↓">
            <a:extLst xmlns:a="http://schemas.openxmlformats.org/drawingml/2006/main">
              <a:ext uri="{FF2B5EF4-FFF2-40B4-BE49-F238E27FC236}">
                <a16:creationId xmlns:a16="http://schemas.microsoft.com/office/drawing/2014/main" id="{F1C39ED1-916A-4B84-8A31-5AE1615D8904}"/>
              </a:ext>
            </a:extLst>
          </p:cNvPr>
          <p:cNvSpPr>
            <a:spLocks xmlns:a="http://schemas.openxmlformats.org/drawingml/2006/main" noGrp="1"/>
          </p:cNvSpPr>
          <p:nvPr/>
        </p:nvSpPr>
        <p:spPr>
          <a:xfrm xmlns:a="http://schemas.openxmlformats.org/drawingml/2006/main">
            <a:off x="714375" y="4505325"/>
            <a:ext cx="209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0">
                <a:solidFill>
                  <a:srgbClr val="1765A3"/>
                </a:solidFill>
                <a:latin typeface="Arial"/>
                <a:ea typeface="Arial"/>
                <a:cs typeface="Arial"/>
              </a:defRPr>
            </a:pPr>
            <a:r>
              <a:rPr sz="1650" b="0">
                <a:solidFill>
                  <a:srgbClr val="1765A3"/>
                </a:solidFill>
                <a:latin typeface="Arial"/>
                <a:ea typeface="Arial"/>
                <a:cs typeface="Arial"/>
              </a:rPr>
              <a:t>↓</a:t>
            </a:r>
          </a:p>
        </p:txBody>
      </p:sp>
      <p:sp>
        <p:nvSpPr>
          <p:cNvPr id="18" name="Union catalog">
            <a:extLst xmlns:a="http://schemas.openxmlformats.org/drawingml/2006/main">
              <a:ext uri="{FF2B5EF4-FFF2-40B4-BE49-F238E27FC236}">
                <a16:creationId xmlns:a16="http://schemas.microsoft.com/office/drawing/2014/main" id="{FBE8DC3D-5C9D-4248-B2FE-E3A8B0C88C5E}"/>
              </a:ext>
            </a:extLst>
          </p:cNvPr>
          <p:cNvSpPr>
            <a:spLocks xmlns:a="http://schemas.openxmlformats.org/drawingml/2006/main" noGrp="1"/>
          </p:cNvSpPr>
          <p:nvPr/>
        </p:nvSpPr>
        <p:spPr>
          <a:xfrm xmlns:a="http://schemas.openxmlformats.org/drawingml/2006/main">
            <a:off x="628650" y="4867275"/>
            <a:ext cx="4810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1">
                <a:solidFill>
                  <a:srgbClr val="1765A3"/>
                </a:solidFill>
                <a:latin typeface="Arial"/>
                <a:ea typeface="Arial"/>
                <a:cs typeface="Arial"/>
              </a:defRPr>
            </a:pPr>
            <a:r>
              <a:rPr sz="1875" b="1">
                <a:solidFill>
                  <a:srgbClr val="1765A3"/>
                </a:solidFill>
                <a:latin typeface="Arial"/>
                <a:ea typeface="Arial"/>
                <a:cs typeface="Arial"/>
              </a:rPr>
              <a:t>Union catalog</a:t>
            </a:r>
          </a:p>
        </p:txBody>
      </p:sp>
      <p:sp>
        <p:nvSpPr>
          <p:cNvPr id="19" name="75,259 total objects">
            <a:extLst xmlns:a="http://schemas.openxmlformats.org/drawingml/2006/main">
              <a:ext uri="{FF2B5EF4-FFF2-40B4-BE49-F238E27FC236}">
                <a16:creationId xmlns:a16="http://schemas.microsoft.com/office/drawing/2014/main" id="{41D86ADF-1CF0-46F7-9E3C-FDA92EB7CAF5}"/>
              </a:ext>
            </a:extLst>
          </p:cNvPr>
          <p:cNvSpPr>
            <a:spLocks xmlns:a="http://schemas.openxmlformats.org/drawingml/2006/main" noGrp="1"/>
          </p:cNvSpPr>
          <p:nvPr/>
        </p:nvSpPr>
        <p:spPr>
          <a:xfrm xmlns:a="http://schemas.openxmlformats.org/drawingml/2006/main">
            <a:off x="628650" y="5219700"/>
            <a:ext cx="4810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526272"/>
                </a:solidFill>
                <a:latin typeface="Arial"/>
                <a:ea typeface="Arial"/>
                <a:cs typeface="Arial"/>
              </a:defRPr>
            </a:pPr>
            <a:r>
              <a:rPr sz="1500" b="0">
                <a:solidFill>
                  <a:srgbClr val="526272"/>
                </a:solidFill>
                <a:latin typeface="Arial"/>
                <a:ea typeface="Arial"/>
                <a:cs typeface="Arial"/>
              </a:rPr>
              <a:t>75,259 total objects</a:t>
            </a:r>
          </a:p>
        </p:txBody>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1103266c539941df"/>
          <a:stretch xmlns:a="http://schemas.openxmlformats.org/drawingml/2006/main"/>
        </p:blipFill>
        <p:spPr>
          <a:xfrm xmlns:a="http://schemas.openxmlformats.org/drawingml/2006/main">
            <a:off x="6811332" y="1428750"/>
            <a:ext cx="3665210" cy="2143125"/>
          </a:xfrm>
          <a:prstGeom xmlns:a="http://schemas.openxmlformats.org/drawingml/2006/main" prst="rect">
            <a:avLst/>
          </a:prstGeom>
        </p:spPr>
      </p:pic>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343ec356cb7d4c1e"/>
          <a:stretch xmlns:a="http://schemas.openxmlformats.org/drawingml/2006/main"/>
        </p:blipFill>
        <p:spPr>
          <a:xfrm xmlns:a="http://schemas.openxmlformats.org/drawingml/2006/main">
            <a:off x="6996249" y="3724275"/>
            <a:ext cx="3295377" cy="2143125"/>
          </a:xfrm>
          <a:prstGeom xmlns:a="http://schemas.openxmlformats.org/drawingml/2006/main" prst="rect">
            <a:avLst/>
          </a:prstGeom>
        </p:spPr>
      </p:pic>
      <p:sp>
        <p:nvSpPr>
          <p:cNvPr id="22" name="Matching uses a position error for ">
            <a:extLst xmlns:a="http://schemas.openxmlformats.org/drawingml/2006/main">
              <a:ext uri="{FF2B5EF4-FFF2-40B4-BE49-F238E27FC236}">
                <a16:creationId xmlns:a16="http://schemas.microsoft.com/office/drawing/2014/main" id="{C23FCDAE-9534-4D8F-AC2D-C0CE400492B9}"/>
              </a:ext>
            </a:extLst>
          </p:cNvPr>
          <p:cNvSpPr>
            <a:spLocks xmlns:a="http://schemas.openxmlformats.org/drawingml/2006/main" noGrp="1"/>
          </p:cNvSpPr>
          <p:nvPr/>
        </p:nvSpPr>
        <p:spPr>
          <a:xfrm xmlns:a="http://schemas.openxmlformats.org/drawingml/2006/main">
            <a:off x="5953125" y="6000750"/>
            <a:ext cx="53054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526272"/>
                </a:solidFill>
                <a:latin typeface="Arial"/>
                <a:ea typeface="Arial"/>
                <a:cs typeface="Arial"/>
              </a:defRPr>
            </a:pPr>
            <a:r>
              <a:rPr sz="1350" b="0">
                <a:solidFill>
                  <a:srgbClr val="526272"/>
                </a:solidFill>
                <a:latin typeface="Arial"/>
                <a:ea typeface="Arial"/>
                <a:cs typeface="Arial"/>
              </a:rPr>
              <a:t>Matching uses a position error for each band.</a:t>
            </a:r>
          </a:p>
        </p:txBody>
      </p:sp>
    </p:spTree>
    <p:extLst>
      <p:ext uri="{BB962C8B-B14F-4D97-AF65-F5344CB8AC3E}">
        <p14:creationId xmlns:p14="http://schemas.microsoft.com/office/powerpoint/2010/main" val="677087580"/>
      </p:ext>
    </p:extLst>
  </p:cSld>
</p:sld>
</file>

<file path=ppt/slides/slide2.xml><?xml version="1.0" encoding="utf-8"?>
<p:sld xmlns:p="http://schemas.openxmlformats.org/presentationml/2006/main">
  <p:cSld>
    <p:bg>
      <p:bgPr>
        <a:solidFill xmlns:a="http://schemas.openxmlformats.org/drawingml/2006/main">
          <a:srgbClr val="FBFCFE"/>
        </a:solidFill>
      </p:bgPr>
    </p:bg>
    <p:spTree>
      <p:nvGrpSpPr>
        <p:cNvPr id="1" name=""/>
        <p:cNvGrpSpPr/>
        <p:nvPr/>
      </p:nvGrpSpPr>
      <p:grpSpPr>
        <a:xfrm xmlns:a="http://schemas.openxmlformats.org/drawingml/2006/main"/>
      </p:grpSpPr>
      <p:sp>
        <p:nvSpPr>
          <p:cNvPr id="28" name="slide-2-title">
            <a:extLst xmlns:a="http://schemas.openxmlformats.org/drawingml/2006/main">
              <a:ext uri="{FF2B5EF4-FFF2-40B4-BE49-F238E27FC236}">
                <a16:creationId xmlns:a16="http://schemas.microsoft.com/office/drawing/2014/main" id="{316226E2-444F-4924-AED8-2CA6E6910A7C}"/>
              </a:ext>
            </a:extLst>
          </p:cNvPr>
          <p:cNvSpPr>
            <a:spLocks xmlns:a="http://schemas.openxmlformats.org/drawingml/2006/main" noGrp="1"/>
          </p:cNvSpPr>
          <p:nvPr/>
        </p:nvSpPr>
        <p:spPr>
          <a:xfrm xmlns:a="http://schemas.openxmlformats.org/drawingml/2006/main">
            <a:off x="533400" y="266700"/>
            <a:ext cx="111252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50" b="1">
                <a:solidFill>
                  <a:srgbClr val="152334"/>
                </a:solidFill>
                <a:latin typeface="Arial"/>
                <a:ea typeface="Arial"/>
                <a:cs typeface="Arial"/>
              </a:defRPr>
            </a:pPr>
            <a:r>
              <a:rPr sz="2550" b="1">
                <a:solidFill>
                  <a:srgbClr val="152334"/>
                </a:solidFill>
                <a:latin typeface="Arial"/>
                <a:ea typeface="Arial"/>
                <a:cs typeface="Arial"/>
              </a:rPr>
              <a:t>7DT Cross-band Matching</a:t>
            </a:r>
          </a:p>
        </p:txBody>
      </p:sp>
      <p:sp>
        <p:nvSpPr>
          <p:cNvPr id="2" name="slide-2-subtitle">
            <a:extLst xmlns:a="http://schemas.openxmlformats.org/drawingml/2006/main">
              <a:ext uri="{FF2B5EF4-FFF2-40B4-BE49-F238E27FC236}">
                <a16:creationId xmlns:a16="http://schemas.microsoft.com/office/drawing/2014/main" id="{BA818117-A596-4C03-B0B2-7CC51BF251D5}"/>
              </a:ext>
            </a:extLst>
          </p:cNvPr>
          <p:cNvSpPr>
            <a:spLocks xmlns:a="http://schemas.openxmlformats.org/drawingml/2006/main" noGrp="1"/>
          </p:cNvSpPr>
          <p:nvPr/>
        </p:nvSpPr>
        <p:spPr>
          <a:xfrm xmlns:a="http://schemas.openxmlformats.org/drawingml/2006/main">
            <a:off x="552450" y="866775"/>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26272"/>
                </a:solidFill>
                <a:latin typeface="Arial"/>
                <a:ea typeface="Arial"/>
                <a:cs typeface="Arial"/>
              </a:defRPr>
            </a:pPr>
            <a:r>
              <a:rPr sz="1425" b="0">
                <a:solidFill>
                  <a:srgbClr val="526272"/>
                </a:solidFill>
                <a:latin typeface="Arial"/>
                <a:ea typeface="Arial"/>
                <a:cs typeface="Arial"/>
              </a:rPr>
              <a:t>Use position error to judge whether detections belong to one object</a:t>
            </a:r>
          </a:p>
        </p:txBody>
      </p:sp>
      <p:sp>
        <p:nvSpPr>
          <p:cNvPr id="3" name="">
            <a:extLst xmlns:a="http://schemas.openxmlformats.org/drawingml/2006/main">
              <a:ext uri="{FF2B5EF4-FFF2-40B4-BE49-F238E27FC236}">
                <a16:creationId xmlns:a16="http://schemas.microsoft.com/office/drawing/2014/main" id="{2C5E200A-6EB9-4417-A33D-6A1C91E116E6}"/>
              </a:ext>
            </a:extLst>
          </p:cNvPr>
          <p:cNvSpPr>
            <a:spLocks xmlns:a="http://schemas.openxmlformats.org/drawingml/2006/main" noGrp="1"/>
          </p:cNvSpPr>
          <p:nvPr/>
        </p:nvSpPr>
        <p:spPr>
          <a:xfrm xmlns:a="http://schemas.openxmlformats.org/drawingml/2006/main">
            <a:off x="552450" y="1133475"/>
            <a:ext cx="11087100" cy="0"/>
          </a:xfrm>
          <a:prstGeom xmlns:a="http://schemas.openxmlformats.org/drawingml/2006/main" prst="line">
            <a:avLst/>
          </a:prstGeom>
          <a:noFill xmlns:a="http://schemas.openxmlformats.org/drawingml/2006/main"/>
          <a:ln xmlns:a="http://schemas.openxmlformats.org/drawingml/2006/main" w="9525">
            <a:solidFill>
              <a:srgbClr val="D7DEE5"/>
            </a:solidFill>
            <a:prstDash val="solid"/>
          </a:ln>
        </p:spPr>
      </p:sp>
      <p:sp>
        <p:nvSpPr>
          <p:cNvPr id="4" name="7DT · COSMOS1">
            <a:extLst xmlns:a="http://schemas.openxmlformats.org/drawingml/2006/main">
              <a:ext uri="{FF2B5EF4-FFF2-40B4-BE49-F238E27FC236}">
                <a16:creationId xmlns:a16="http://schemas.microsoft.com/office/drawing/2014/main" id="{278C2422-781A-46F7-B553-E68BE8825F78}"/>
              </a:ext>
            </a:extLst>
          </p:cNvPr>
          <p:cNvSpPr>
            <a:spLocks xmlns:a="http://schemas.openxmlformats.org/drawingml/2006/main" noGrp="1"/>
          </p:cNvSpPr>
          <p:nvPr/>
        </p:nvSpPr>
        <p:spPr>
          <a:xfrm xmlns:a="http://schemas.openxmlformats.org/drawingml/2006/main">
            <a:off x="552450" y="64770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0">
                <a:solidFill>
                  <a:srgbClr val="526272"/>
                </a:solidFill>
                <a:latin typeface="Arial"/>
                <a:ea typeface="Arial"/>
                <a:cs typeface="Arial"/>
              </a:defRPr>
            </a:pPr>
            <a:r>
              <a:rPr sz="1050" b="0">
                <a:solidFill>
                  <a:srgbClr val="526272"/>
                </a:solidFill>
                <a:latin typeface="Arial"/>
                <a:ea typeface="Arial"/>
                <a:cs typeface="Arial"/>
              </a:rPr>
              <a:t>7DT · COSMOS1</a:t>
            </a:r>
          </a:p>
        </p:txBody>
      </p:sp>
      <p:sp>
        <p:nvSpPr>
          <p:cNvPr id="5" name="2">
            <a:extLst xmlns:a="http://schemas.openxmlformats.org/drawingml/2006/main">
              <a:ext uri="{FF2B5EF4-FFF2-40B4-BE49-F238E27FC236}">
                <a16:creationId xmlns:a16="http://schemas.microsoft.com/office/drawing/2014/main" id="{699A66C7-1180-4C69-8F82-7D17AA335557}"/>
              </a:ext>
            </a:extLst>
          </p:cNvPr>
          <p:cNvSpPr>
            <a:spLocks xmlns:a="http://schemas.openxmlformats.org/drawingml/2006/main" noGrp="1"/>
          </p:cNvSpPr>
          <p:nvPr/>
        </p:nvSpPr>
        <p:spPr>
          <a:xfrm xmlns:a="http://schemas.openxmlformats.org/drawingml/2006/main">
            <a:off x="11239500" y="64770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0">
                <a:solidFill>
                  <a:srgbClr val="526272"/>
                </a:solidFill>
                <a:latin typeface="Arial"/>
                <a:ea typeface="Arial"/>
                <a:cs typeface="Arial"/>
              </a:defRPr>
            </a:pPr>
            <a:r>
              <a:rPr sz="1050" b="0">
                <a:solidFill>
                  <a:srgbClr val="526272"/>
                </a:solidFill>
                <a:latin typeface="Arial"/>
                <a:ea typeface="Arial"/>
                <a:cs typeface="Arial"/>
              </a:rPr>
              <a:t>2</a:t>
            </a:r>
          </a:p>
        </p:txBody>
      </p:sp>
      <p:sp>
        <p:nvSpPr>
          <p:cNvPr id="6" name="01">
            <a:extLst xmlns:a="http://schemas.openxmlformats.org/drawingml/2006/main">
              <a:ext uri="{FF2B5EF4-FFF2-40B4-BE49-F238E27FC236}">
                <a16:creationId xmlns:a16="http://schemas.microsoft.com/office/drawing/2014/main" id="{95F0252E-E01B-4E77-B6D8-C2EB91124A88}"/>
              </a:ext>
            </a:extLst>
          </p:cNvPr>
          <p:cNvSpPr>
            <a:spLocks xmlns:a="http://schemas.openxmlformats.org/drawingml/2006/main" noGrp="1"/>
          </p:cNvSpPr>
          <p:nvPr/>
        </p:nvSpPr>
        <p:spPr>
          <a:xfrm xmlns:a="http://schemas.openxmlformats.org/drawingml/2006/main">
            <a:off x="571500" y="1619250"/>
            <a:ext cx="2238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1765A3"/>
                </a:solidFill>
                <a:latin typeface="Arial"/>
                <a:ea typeface="Arial"/>
                <a:cs typeface="Arial"/>
              </a:defRPr>
            </a:pPr>
            <a:r>
              <a:rPr sz="1725" b="1">
                <a:solidFill>
                  <a:srgbClr val="1765A3"/>
                </a:solidFill>
                <a:latin typeface="Arial"/>
                <a:ea typeface="Arial"/>
                <a:cs typeface="Arial"/>
              </a:rPr>
              <a:t>01</a:t>
            </a:r>
          </a:p>
        </p:txBody>
      </p:sp>
      <p:sp>
        <p:nvSpPr>
          <p:cNvPr id="7" name="New band source">
            <a:extLst xmlns:a="http://schemas.openxmlformats.org/drawingml/2006/main">
              <a:ext uri="{FF2B5EF4-FFF2-40B4-BE49-F238E27FC236}">
                <a16:creationId xmlns:a16="http://schemas.microsoft.com/office/drawing/2014/main" id="{FE7701E2-6C8A-4112-8D6C-B750C12A6FDC}"/>
              </a:ext>
            </a:extLst>
          </p:cNvPr>
          <p:cNvSpPr>
            <a:spLocks xmlns:a="http://schemas.openxmlformats.org/drawingml/2006/main" noGrp="1"/>
          </p:cNvSpPr>
          <p:nvPr/>
        </p:nvSpPr>
        <p:spPr>
          <a:xfrm xmlns:a="http://schemas.openxmlformats.org/drawingml/2006/main">
            <a:off x="571500" y="2085975"/>
            <a:ext cx="238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152334"/>
                </a:solidFill>
                <a:latin typeface="Arial"/>
                <a:ea typeface="Arial"/>
                <a:cs typeface="Arial"/>
              </a:defRPr>
            </a:pPr>
            <a:r>
              <a:rPr sz="1725" b="1">
                <a:solidFill>
                  <a:srgbClr val="152334"/>
                </a:solidFill>
                <a:latin typeface="Arial"/>
                <a:ea typeface="Arial"/>
                <a:cs typeface="Arial"/>
              </a:rPr>
              <a:t>New band source</a:t>
            </a:r>
          </a:p>
        </p:txBody>
      </p:sp>
      <p:sp>
        <p:nvSpPr>
          <p:cNvPr id="8" name="">
            <a:extLst xmlns:a="http://schemas.openxmlformats.org/drawingml/2006/main">
              <a:ext uri="{FF2B5EF4-FFF2-40B4-BE49-F238E27FC236}">
                <a16:creationId xmlns:a16="http://schemas.microsoft.com/office/drawing/2014/main" id="{DCD7E35A-B9B7-4484-873F-7ACA617CBD7A}"/>
              </a:ext>
            </a:extLst>
          </p:cNvPr>
          <p:cNvSpPr>
            <a:spLocks xmlns:a="http://schemas.openxmlformats.org/drawingml/2006/main" noGrp="1"/>
          </p:cNvSpPr>
          <p:nvPr/>
        </p:nvSpPr>
        <p:spPr>
          <a:xfrm xmlns:a="http://schemas.openxmlformats.org/drawingml/2006/main">
            <a:off x="3000375" y="2324100"/>
            <a:ext cx="333375" cy="0"/>
          </a:xfrm>
          <a:prstGeom xmlns:a="http://schemas.openxmlformats.org/drawingml/2006/main" prst="line">
            <a:avLst/>
          </a:prstGeom>
          <a:noFill xmlns:a="http://schemas.openxmlformats.org/drawingml/2006/main"/>
          <a:ln xmlns:a="http://schemas.openxmlformats.org/drawingml/2006/main" w="19050">
            <a:solidFill>
              <a:srgbClr val="1765A3"/>
            </a:solidFill>
            <a:prstDash val="solid"/>
          </a:ln>
        </p:spPr>
      </p:sp>
      <p:sp>
        <p:nvSpPr>
          <p:cNvPr id="9" name="›">
            <a:extLst xmlns:a="http://schemas.openxmlformats.org/drawingml/2006/main">
              <a:ext uri="{FF2B5EF4-FFF2-40B4-BE49-F238E27FC236}">
                <a16:creationId xmlns:a16="http://schemas.microsoft.com/office/drawing/2014/main" id="{0D3307EE-DE53-4E4C-B49A-5EB3670DF88A}"/>
              </a:ext>
            </a:extLst>
          </p:cNvPr>
          <p:cNvSpPr>
            <a:spLocks xmlns:a="http://schemas.openxmlformats.org/drawingml/2006/main" noGrp="1"/>
          </p:cNvSpPr>
          <p:nvPr/>
        </p:nvSpPr>
        <p:spPr>
          <a:xfrm xmlns:a="http://schemas.openxmlformats.org/drawingml/2006/main">
            <a:off x="3095625" y="2095500"/>
            <a:ext cx="3238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475" b="0">
                <a:solidFill>
                  <a:srgbClr val="1765A3"/>
                </a:solidFill>
                <a:latin typeface="Arial"/>
                <a:ea typeface="Arial"/>
                <a:cs typeface="Arial"/>
              </a:defRPr>
            </a:pPr>
            <a:r>
              <a:rPr sz="2475" b="0">
                <a:solidFill>
                  <a:srgbClr val="1765A3"/>
                </a:solidFill>
                <a:latin typeface="Arial"/>
                <a:ea typeface="Arial"/>
                <a:cs typeface="Arial"/>
              </a:rPr>
              <a:t>›</a:t>
            </a:r>
          </a:p>
        </p:txBody>
      </p:sp>
      <p:sp>
        <p:nvSpPr>
          <p:cNvPr id="10" name="02">
            <a:extLst xmlns:a="http://schemas.openxmlformats.org/drawingml/2006/main">
              <a:ext uri="{FF2B5EF4-FFF2-40B4-BE49-F238E27FC236}">
                <a16:creationId xmlns:a16="http://schemas.microsoft.com/office/drawing/2014/main" id="{A679427D-1B29-4BFA-8A9E-A4B6C4C3C02C}"/>
              </a:ext>
            </a:extLst>
          </p:cNvPr>
          <p:cNvSpPr>
            <a:spLocks xmlns:a="http://schemas.openxmlformats.org/drawingml/2006/main" noGrp="1"/>
          </p:cNvSpPr>
          <p:nvPr/>
        </p:nvSpPr>
        <p:spPr>
          <a:xfrm xmlns:a="http://schemas.openxmlformats.org/drawingml/2006/main">
            <a:off x="3476625" y="1619250"/>
            <a:ext cx="2238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1765A3"/>
                </a:solidFill>
                <a:latin typeface="Arial"/>
                <a:ea typeface="Arial"/>
                <a:cs typeface="Arial"/>
              </a:defRPr>
            </a:pPr>
            <a:r>
              <a:rPr sz="1725" b="1">
                <a:solidFill>
                  <a:srgbClr val="1765A3"/>
                </a:solidFill>
                <a:latin typeface="Arial"/>
                <a:ea typeface="Arial"/>
                <a:cs typeface="Arial"/>
              </a:rPr>
              <a:t>02</a:t>
            </a:r>
          </a:p>
        </p:txBody>
      </p:sp>
      <p:sp>
        <p:nvSpPr>
          <p:cNvPr id="11" name="3σ candidate search">
            <a:extLst xmlns:a="http://schemas.openxmlformats.org/drawingml/2006/main">
              <a:ext uri="{FF2B5EF4-FFF2-40B4-BE49-F238E27FC236}">
                <a16:creationId xmlns:a16="http://schemas.microsoft.com/office/drawing/2014/main" id="{551745A5-AEE8-41E6-97C0-68DEA356F80D}"/>
              </a:ext>
            </a:extLst>
          </p:cNvPr>
          <p:cNvSpPr>
            <a:spLocks xmlns:a="http://schemas.openxmlformats.org/drawingml/2006/main" noGrp="1"/>
          </p:cNvSpPr>
          <p:nvPr/>
        </p:nvSpPr>
        <p:spPr>
          <a:xfrm xmlns:a="http://schemas.openxmlformats.org/drawingml/2006/main">
            <a:off x="3476625" y="2085975"/>
            <a:ext cx="238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152334"/>
                </a:solidFill>
                <a:latin typeface="Arial"/>
                <a:ea typeface="Arial"/>
                <a:cs typeface="Arial"/>
              </a:defRPr>
            </a:pPr>
            <a:r>
              <a:rPr sz="1725" b="1">
                <a:solidFill>
                  <a:srgbClr val="152334"/>
                </a:solidFill>
                <a:latin typeface="Arial"/>
                <a:ea typeface="Arial"/>
                <a:cs typeface="Arial"/>
              </a:rPr>
              <a:t>3σ candidate search</a:t>
            </a:r>
          </a:p>
        </p:txBody>
      </p:sp>
      <p:sp>
        <p:nvSpPr>
          <p:cNvPr id="12" name="">
            <a:extLst xmlns:a="http://schemas.openxmlformats.org/drawingml/2006/main">
              <a:ext uri="{FF2B5EF4-FFF2-40B4-BE49-F238E27FC236}">
                <a16:creationId xmlns:a16="http://schemas.microsoft.com/office/drawing/2014/main" id="{C7637EE0-2B80-475B-AC7E-039E639AA57B}"/>
              </a:ext>
            </a:extLst>
          </p:cNvPr>
          <p:cNvSpPr>
            <a:spLocks xmlns:a="http://schemas.openxmlformats.org/drawingml/2006/main" noGrp="1"/>
          </p:cNvSpPr>
          <p:nvPr/>
        </p:nvSpPr>
        <p:spPr>
          <a:xfrm xmlns:a="http://schemas.openxmlformats.org/drawingml/2006/main">
            <a:off x="5905500" y="2324100"/>
            <a:ext cx="333375" cy="0"/>
          </a:xfrm>
          <a:prstGeom xmlns:a="http://schemas.openxmlformats.org/drawingml/2006/main" prst="line">
            <a:avLst/>
          </a:prstGeom>
          <a:noFill xmlns:a="http://schemas.openxmlformats.org/drawingml/2006/main"/>
          <a:ln xmlns:a="http://schemas.openxmlformats.org/drawingml/2006/main" w="19050">
            <a:solidFill>
              <a:srgbClr val="1765A3"/>
            </a:solidFill>
            <a:prstDash val="solid"/>
          </a:ln>
        </p:spPr>
      </p:sp>
      <p:sp>
        <p:nvSpPr>
          <p:cNvPr id="13" name="›">
            <a:extLst xmlns:a="http://schemas.openxmlformats.org/drawingml/2006/main">
              <a:ext uri="{FF2B5EF4-FFF2-40B4-BE49-F238E27FC236}">
                <a16:creationId xmlns:a16="http://schemas.microsoft.com/office/drawing/2014/main" id="{6533E90C-A3AC-4288-B9F5-93708FFC41F1}"/>
              </a:ext>
            </a:extLst>
          </p:cNvPr>
          <p:cNvSpPr>
            <a:spLocks xmlns:a="http://schemas.openxmlformats.org/drawingml/2006/main" noGrp="1"/>
          </p:cNvSpPr>
          <p:nvPr/>
        </p:nvSpPr>
        <p:spPr>
          <a:xfrm xmlns:a="http://schemas.openxmlformats.org/drawingml/2006/main">
            <a:off x="6000750" y="2095500"/>
            <a:ext cx="3238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475" b="0">
                <a:solidFill>
                  <a:srgbClr val="1765A3"/>
                </a:solidFill>
                <a:latin typeface="Arial"/>
                <a:ea typeface="Arial"/>
                <a:cs typeface="Arial"/>
              </a:defRPr>
            </a:pPr>
            <a:r>
              <a:rPr sz="2475" b="0">
                <a:solidFill>
                  <a:srgbClr val="1765A3"/>
                </a:solidFill>
                <a:latin typeface="Arial"/>
                <a:ea typeface="Arial"/>
                <a:cs typeface="Arial"/>
              </a:rPr>
              <a:t>›</a:t>
            </a:r>
          </a:p>
        </p:txBody>
      </p:sp>
      <p:sp>
        <p:nvSpPr>
          <p:cNvPr id="14" name="03">
            <a:extLst xmlns:a="http://schemas.openxmlformats.org/drawingml/2006/main">
              <a:ext uri="{FF2B5EF4-FFF2-40B4-BE49-F238E27FC236}">
                <a16:creationId xmlns:a16="http://schemas.microsoft.com/office/drawing/2014/main" id="{5CDB6A1B-6389-4B42-84EF-3D47A398DA84}"/>
              </a:ext>
            </a:extLst>
          </p:cNvPr>
          <p:cNvSpPr>
            <a:spLocks xmlns:a="http://schemas.openxmlformats.org/drawingml/2006/main" noGrp="1"/>
          </p:cNvSpPr>
          <p:nvPr/>
        </p:nvSpPr>
        <p:spPr>
          <a:xfrm xmlns:a="http://schemas.openxmlformats.org/drawingml/2006/main">
            <a:off x="6381750" y="1619250"/>
            <a:ext cx="2238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1765A3"/>
                </a:solidFill>
                <a:latin typeface="Arial"/>
                <a:ea typeface="Arial"/>
                <a:cs typeface="Arial"/>
              </a:defRPr>
            </a:pPr>
            <a:r>
              <a:rPr sz="1725" b="1">
                <a:solidFill>
                  <a:srgbClr val="1765A3"/>
                </a:solidFill>
                <a:latin typeface="Arial"/>
                <a:ea typeface="Arial"/>
                <a:cs typeface="Arial"/>
              </a:rPr>
              <a:t>03</a:t>
            </a:r>
          </a:p>
        </p:txBody>
      </p:sp>
      <p:sp>
        <p:nvSpPr>
          <p:cNvPr id="15" name="One-to-one match">
            <a:extLst xmlns:a="http://schemas.openxmlformats.org/drawingml/2006/main">
              <a:ext uri="{FF2B5EF4-FFF2-40B4-BE49-F238E27FC236}">
                <a16:creationId xmlns:a16="http://schemas.microsoft.com/office/drawing/2014/main" id="{32312826-9A89-4271-98D2-6FFD45C1B66C}"/>
              </a:ext>
            </a:extLst>
          </p:cNvPr>
          <p:cNvSpPr>
            <a:spLocks xmlns:a="http://schemas.openxmlformats.org/drawingml/2006/main" noGrp="1"/>
          </p:cNvSpPr>
          <p:nvPr/>
        </p:nvSpPr>
        <p:spPr>
          <a:xfrm xmlns:a="http://schemas.openxmlformats.org/drawingml/2006/main">
            <a:off x="6381750" y="2085975"/>
            <a:ext cx="238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152334"/>
                </a:solidFill>
                <a:latin typeface="Arial"/>
                <a:ea typeface="Arial"/>
                <a:cs typeface="Arial"/>
              </a:defRPr>
            </a:pPr>
            <a:r>
              <a:rPr sz="1725" b="1">
                <a:solidFill>
                  <a:srgbClr val="152334"/>
                </a:solidFill>
                <a:latin typeface="Arial"/>
                <a:ea typeface="Arial"/>
                <a:cs typeface="Arial"/>
              </a:rPr>
              <a:t>One-to-one match</a:t>
            </a:r>
          </a:p>
        </p:txBody>
      </p:sp>
      <p:sp>
        <p:nvSpPr>
          <p:cNvPr id="16" name="">
            <a:extLst xmlns:a="http://schemas.openxmlformats.org/drawingml/2006/main">
              <a:ext uri="{FF2B5EF4-FFF2-40B4-BE49-F238E27FC236}">
                <a16:creationId xmlns:a16="http://schemas.microsoft.com/office/drawing/2014/main" id="{352C46DE-574D-45BC-A14A-05793D0F5A08}"/>
              </a:ext>
            </a:extLst>
          </p:cNvPr>
          <p:cNvSpPr>
            <a:spLocks xmlns:a="http://schemas.openxmlformats.org/drawingml/2006/main" noGrp="1"/>
          </p:cNvSpPr>
          <p:nvPr/>
        </p:nvSpPr>
        <p:spPr>
          <a:xfrm xmlns:a="http://schemas.openxmlformats.org/drawingml/2006/main">
            <a:off x="8810625" y="2324100"/>
            <a:ext cx="333375" cy="0"/>
          </a:xfrm>
          <a:prstGeom xmlns:a="http://schemas.openxmlformats.org/drawingml/2006/main" prst="line">
            <a:avLst/>
          </a:prstGeom>
          <a:noFill xmlns:a="http://schemas.openxmlformats.org/drawingml/2006/main"/>
          <a:ln xmlns:a="http://schemas.openxmlformats.org/drawingml/2006/main" w="19050">
            <a:solidFill>
              <a:srgbClr val="1765A3"/>
            </a:solidFill>
            <a:prstDash val="solid"/>
          </a:ln>
        </p:spPr>
      </p:sp>
      <p:sp>
        <p:nvSpPr>
          <p:cNvPr id="17" name="›">
            <a:extLst xmlns:a="http://schemas.openxmlformats.org/drawingml/2006/main">
              <a:ext uri="{FF2B5EF4-FFF2-40B4-BE49-F238E27FC236}">
                <a16:creationId xmlns:a16="http://schemas.microsoft.com/office/drawing/2014/main" id="{47C56389-9013-4F61-A209-C17C62D0F0AD}"/>
              </a:ext>
            </a:extLst>
          </p:cNvPr>
          <p:cNvSpPr>
            <a:spLocks xmlns:a="http://schemas.openxmlformats.org/drawingml/2006/main" noGrp="1"/>
          </p:cNvSpPr>
          <p:nvPr/>
        </p:nvSpPr>
        <p:spPr>
          <a:xfrm xmlns:a="http://schemas.openxmlformats.org/drawingml/2006/main">
            <a:off x="8905875" y="2095500"/>
            <a:ext cx="3238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475" b="0">
                <a:solidFill>
                  <a:srgbClr val="1765A3"/>
                </a:solidFill>
                <a:latin typeface="Arial"/>
                <a:ea typeface="Arial"/>
                <a:cs typeface="Arial"/>
              </a:defRPr>
            </a:pPr>
            <a:r>
              <a:rPr sz="2475" b="0">
                <a:solidFill>
                  <a:srgbClr val="1765A3"/>
                </a:solidFill>
                <a:latin typeface="Arial"/>
                <a:ea typeface="Arial"/>
                <a:cs typeface="Arial"/>
              </a:rPr>
              <a:t>›</a:t>
            </a:r>
          </a:p>
        </p:txBody>
      </p:sp>
      <p:sp>
        <p:nvSpPr>
          <p:cNvPr id="18" name="04">
            <a:extLst xmlns:a="http://schemas.openxmlformats.org/drawingml/2006/main">
              <a:ext uri="{FF2B5EF4-FFF2-40B4-BE49-F238E27FC236}">
                <a16:creationId xmlns:a16="http://schemas.microsoft.com/office/drawing/2014/main" id="{EB71A453-1F27-462E-BDA3-410FB412D477}"/>
              </a:ext>
            </a:extLst>
          </p:cNvPr>
          <p:cNvSpPr>
            <a:spLocks xmlns:a="http://schemas.openxmlformats.org/drawingml/2006/main" noGrp="1"/>
          </p:cNvSpPr>
          <p:nvPr/>
        </p:nvSpPr>
        <p:spPr>
          <a:xfrm xmlns:a="http://schemas.openxmlformats.org/drawingml/2006/main">
            <a:off x="9286875" y="1619250"/>
            <a:ext cx="2238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1765A3"/>
                </a:solidFill>
                <a:latin typeface="Arial"/>
                <a:ea typeface="Arial"/>
                <a:cs typeface="Arial"/>
              </a:defRPr>
            </a:pPr>
            <a:r>
              <a:rPr sz="1725" b="1">
                <a:solidFill>
                  <a:srgbClr val="1765A3"/>
                </a:solidFill>
                <a:latin typeface="Arial"/>
                <a:ea typeface="Arial"/>
                <a:cs typeface="Arial"/>
              </a:rPr>
              <a:t>04</a:t>
            </a:r>
          </a:p>
        </p:txBody>
      </p:sp>
      <p:sp>
        <p:nvSpPr>
          <p:cNvPr id="19" name="Weighted master update">
            <a:extLst xmlns:a="http://schemas.openxmlformats.org/drawingml/2006/main">
              <a:ext uri="{FF2B5EF4-FFF2-40B4-BE49-F238E27FC236}">
                <a16:creationId xmlns:a16="http://schemas.microsoft.com/office/drawing/2014/main" id="{B1A6E955-6917-46F1-B588-CDBD76C62FBD}"/>
              </a:ext>
            </a:extLst>
          </p:cNvPr>
          <p:cNvSpPr>
            <a:spLocks xmlns:a="http://schemas.openxmlformats.org/drawingml/2006/main" noGrp="1"/>
          </p:cNvSpPr>
          <p:nvPr/>
        </p:nvSpPr>
        <p:spPr>
          <a:xfrm xmlns:a="http://schemas.openxmlformats.org/drawingml/2006/main">
            <a:off x="9286875" y="2085975"/>
            <a:ext cx="238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152334"/>
                </a:solidFill>
                <a:latin typeface="Arial"/>
                <a:ea typeface="Arial"/>
                <a:cs typeface="Arial"/>
              </a:defRPr>
            </a:pPr>
            <a:r>
              <a:rPr sz="1725" b="1">
                <a:solidFill>
                  <a:srgbClr val="152334"/>
                </a:solidFill>
                <a:latin typeface="Arial"/>
                <a:ea typeface="Arial"/>
                <a:cs typeface="Arial"/>
              </a:rPr>
              <a:t>Weighted master update</a:t>
            </a:r>
          </a:p>
        </p:txBody>
      </p:sp>
      <p:sp>
        <p:nvSpPr>
          <p:cNvPr id="20" name="">
            <a:extLst xmlns:a="http://schemas.openxmlformats.org/drawingml/2006/main">
              <a:ext uri="{FF2B5EF4-FFF2-40B4-BE49-F238E27FC236}">
                <a16:creationId xmlns:a16="http://schemas.microsoft.com/office/drawing/2014/main" id="{53DCA68E-0B15-47BA-99E4-FAFEC70A5E0B}"/>
              </a:ext>
            </a:extLst>
          </p:cNvPr>
          <p:cNvSpPr>
            <a:spLocks xmlns:a="http://schemas.openxmlformats.org/drawingml/2006/main" noGrp="1"/>
          </p:cNvSpPr>
          <p:nvPr/>
        </p:nvSpPr>
        <p:spPr>
          <a:xfrm xmlns:a="http://schemas.openxmlformats.org/drawingml/2006/main">
            <a:off x="552450" y="2952750"/>
            <a:ext cx="11087100" cy="0"/>
          </a:xfrm>
          <a:prstGeom xmlns:a="http://schemas.openxmlformats.org/drawingml/2006/main" prst="line">
            <a:avLst/>
          </a:prstGeom>
          <a:noFill xmlns:a="http://schemas.openxmlformats.org/drawingml/2006/main"/>
          <a:ln xmlns:a="http://schemas.openxmlformats.org/drawingml/2006/main" w="9525">
            <a:solidFill>
              <a:srgbClr val="D7DEE5"/>
            </a:solidFill>
            <a:prstDash val="solid"/>
          </a:ln>
        </p:spPr>
      </p:sp>
      <p:sp>
        <p:nvSpPr>
          <p:cNvPr id="21" name="Band position error">
            <a:extLst xmlns:a="http://schemas.openxmlformats.org/drawingml/2006/main">
              <a:ext uri="{FF2B5EF4-FFF2-40B4-BE49-F238E27FC236}">
                <a16:creationId xmlns:a16="http://schemas.microsoft.com/office/drawing/2014/main" id="{8C20DC24-6CF7-4EEC-9B4D-16675C9EA4D0}"/>
              </a:ext>
            </a:extLst>
          </p:cNvPr>
          <p:cNvSpPr>
            <a:spLocks xmlns:a="http://schemas.openxmlformats.org/drawingml/2006/main" noGrp="1"/>
          </p:cNvSpPr>
          <p:nvPr/>
        </p:nvSpPr>
        <p:spPr>
          <a:xfrm xmlns:a="http://schemas.openxmlformats.org/drawingml/2006/main">
            <a:off x="590550" y="3276600"/>
            <a:ext cx="314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1">
                <a:solidFill>
                  <a:srgbClr val="526272"/>
                </a:solidFill>
                <a:latin typeface="Arial"/>
                <a:ea typeface="Arial"/>
                <a:cs typeface="Arial"/>
              </a:defRPr>
            </a:pPr>
            <a:r>
              <a:rPr sz="1425" b="1">
                <a:solidFill>
                  <a:srgbClr val="526272"/>
                </a:solidFill>
                <a:latin typeface="Arial"/>
                <a:ea typeface="Arial"/>
                <a:cs typeface="Arial"/>
              </a:rPr>
              <a:t>Band position error</a:t>
            </a:r>
          </a:p>
        </p:txBody>
      </p:sp>
      <p:sp>
        <p:nvSpPr>
          <p:cNvPr id="22" name="σb = FWHMb / (2.355 × S/Nmin,b)">
            <a:extLst xmlns:a="http://schemas.openxmlformats.org/drawingml/2006/main">
              <a:ext uri="{FF2B5EF4-FFF2-40B4-BE49-F238E27FC236}">
                <a16:creationId xmlns:a16="http://schemas.microsoft.com/office/drawing/2014/main" id="{20537955-6462-498E-8CD7-98FA7DF54D21}"/>
              </a:ext>
            </a:extLst>
          </p:cNvPr>
          <p:cNvSpPr>
            <a:spLocks xmlns:a="http://schemas.openxmlformats.org/drawingml/2006/main" noGrp="1"/>
          </p:cNvSpPr>
          <p:nvPr/>
        </p:nvSpPr>
        <p:spPr>
          <a:xfrm xmlns:a="http://schemas.openxmlformats.org/drawingml/2006/main">
            <a:off x="590550" y="3657600"/>
            <a:ext cx="523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152334"/>
                </a:solidFill>
                <a:latin typeface="Arial"/>
                <a:ea typeface="Arial"/>
                <a:cs typeface="Arial"/>
              </a:defRPr>
            </a:pPr>
            <a:r>
              <a:rPr sz="2025" b="0">
                <a:solidFill>
                  <a:srgbClr val="152334"/>
                </a:solidFill>
                <a:latin typeface="Arial"/>
                <a:ea typeface="Arial"/>
                <a:cs typeface="Arial"/>
              </a:rPr>
              <a:t>σb = FWHMb / (2.355 × S/Nmin,b)</a:t>
            </a:r>
          </a:p>
        </p:txBody>
      </p:sp>
      <p:sp>
        <p:nvSpPr>
          <p:cNvPr id="23" name="Pair score">
            <a:extLst xmlns:a="http://schemas.openxmlformats.org/drawingml/2006/main">
              <a:ext uri="{FF2B5EF4-FFF2-40B4-BE49-F238E27FC236}">
                <a16:creationId xmlns:a16="http://schemas.microsoft.com/office/drawing/2014/main" id="{BB8D6F83-CE15-4104-B620-77FB89E20E5C}"/>
              </a:ext>
            </a:extLst>
          </p:cNvPr>
          <p:cNvSpPr>
            <a:spLocks xmlns:a="http://schemas.openxmlformats.org/drawingml/2006/main" noGrp="1"/>
          </p:cNvSpPr>
          <p:nvPr/>
        </p:nvSpPr>
        <p:spPr>
          <a:xfrm xmlns:a="http://schemas.openxmlformats.org/drawingml/2006/main">
            <a:off x="6400800" y="3276600"/>
            <a:ext cx="266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1">
                <a:solidFill>
                  <a:srgbClr val="526272"/>
                </a:solidFill>
                <a:latin typeface="Arial"/>
                <a:ea typeface="Arial"/>
                <a:cs typeface="Arial"/>
              </a:defRPr>
            </a:pPr>
            <a:r>
              <a:rPr sz="1425" b="1">
                <a:solidFill>
                  <a:srgbClr val="526272"/>
                </a:solidFill>
                <a:latin typeface="Arial"/>
                <a:ea typeface="Arial"/>
                <a:cs typeface="Arial"/>
              </a:rPr>
              <a:t>Pair score</a:t>
            </a:r>
          </a:p>
        </p:txBody>
      </p:sp>
      <p:sp>
        <p:nvSpPr>
          <p:cNvPr id="24" name="D = d / √(σmaster² + σb²) &lt; 3">
            <a:extLst xmlns:a="http://schemas.openxmlformats.org/drawingml/2006/main">
              <a:ext uri="{FF2B5EF4-FFF2-40B4-BE49-F238E27FC236}">
                <a16:creationId xmlns:a16="http://schemas.microsoft.com/office/drawing/2014/main" id="{FEDBE367-360E-40A0-92C9-507FFCCC9E3E}"/>
              </a:ext>
            </a:extLst>
          </p:cNvPr>
          <p:cNvSpPr>
            <a:spLocks xmlns:a="http://schemas.openxmlformats.org/drawingml/2006/main" noGrp="1"/>
          </p:cNvSpPr>
          <p:nvPr/>
        </p:nvSpPr>
        <p:spPr>
          <a:xfrm xmlns:a="http://schemas.openxmlformats.org/drawingml/2006/main">
            <a:off x="6400800" y="3657600"/>
            <a:ext cx="523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1765A3"/>
                </a:solidFill>
                <a:latin typeface="Arial"/>
                <a:ea typeface="Arial"/>
                <a:cs typeface="Arial"/>
              </a:defRPr>
            </a:pPr>
            <a:r>
              <a:rPr sz="2025" b="0">
                <a:solidFill>
                  <a:srgbClr val="1765A3"/>
                </a:solidFill>
                <a:latin typeface="Arial"/>
                <a:ea typeface="Arial"/>
                <a:cs typeface="Arial"/>
              </a:rPr>
              <a:t>D = d / √(σmaster² + σb²) &lt; 3</a:t>
            </a:r>
          </a:p>
        </p:txBody>
      </p:sp>
      <p:sp>
        <p:nvSpPr>
          <p:cNvPr id="25" name="Updated master position">
            <a:extLst xmlns:a="http://schemas.openxmlformats.org/drawingml/2006/main">
              <a:ext uri="{FF2B5EF4-FFF2-40B4-BE49-F238E27FC236}">
                <a16:creationId xmlns:a16="http://schemas.microsoft.com/office/drawing/2014/main" id="{6A557B54-9061-49DF-AFBD-4E47B8DF2F49}"/>
              </a:ext>
            </a:extLst>
          </p:cNvPr>
          <p:cNvSpPr>
            <a:spLocks xmlns:a="http://schemas.openxmlformats.org/drawingml/2006/main" noGrp="1"/>
          </p:cNvSpPr>
          <p:nvPr/>
        </p:nvSpPr>
        <p:spPr>
          <a:xfrm xmlns:a="http://schemas.openxmlformats.org/drawingml/2006/main">
            <a:off x="590550" y="4581525"/>
            <a:ext cx="4191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1">
                <a:solidFill>
                  <a:srgbClr val="526272"/>
                </a:solidFill>
                <a:latin typeface="Arial"/>
                <a:ea typeface="Arial"/>
                <a:cs typeface="Arial"/>
              </a:defRPr>
            </a:pPr>
            <a:r>
              <a:rPr sz="1425" b="1">
                <a:solidFill>
                  <a:srgbClr val="526272"/>
                </a:solidFill>
                <a:latin typeface="Arial"/>
                <a:ea typeface="Arial"/>
                <a:cs typeface="Arial"/>
              </a:rPr>
              <a:t>Updated master position</a:t>
            </a:r>
          </a:p>
        </p:txBody>
      </p:sp>
      <p:sp>
        <p:nvSpPr>
          <p:cNvPr id="26" name="xmaster = Σ(xb / σb²) / Σ(1 / σb²)">
            <a:extLst xmlns:a="http://schemas.openxmlformats.org/drawingml/2006/main">
              <a:ext uri="{FF2B5EF4-FFF2-40B4-BE49-F238E27FC236}">
                <a16:creationId xmlns:a16="http://schemas.microsoft.com/office/drawing/2014/main" id="{84F92B37-88EC-448B-9A3E-A6DE11BAE1F0}"/>
              </a:ext>
            </a:extLst>
          </p:cNvPr>
          <p:cNvSpPr>
            <a:spLocks xmlns:a="http://schemas.openxmlformats.org/drawingml/2006/main" noGrp="1"/>
          </p:cNvSpPr>
          <p:nvPr/>
        </p:nvSpPr>
        <p:spPr>
          <a:xfrm xmlns:a="http://schemas.openxmlformats.org/drawingml/2006/main">
            <a:off x="590550" y="4962525"/>
            <a:ext cx="714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152334"/>
                </a:solidFill>
                <a:latin typeface="Arial"/>
                <a:ea typeface="Arial"/>
                <a:cs typeface="Arial"/>
              </a:defRPr>
            </a:pPr>
            <a:r>
              <a:rPr sz="2025" b="0">
                <a:solidFill>
                  <a:srgbClr val="152334"/>
                </a:solidFill>
                <a:latin typeface="Arial"/>
                <a:ea typeface="Arial"/>
                <a:cs typeface="Arial"/>
              </a:rPr>
              <a:t>xmaster = Σ(xb / σb²) / Σ(1 / σb²)</a:t>
            </a:r>
          </a:p>
        </p:txBody>
      </p:sp>
      <p:sp>
        <p:nvSpPr>
          <p:cNvPr id="27" name="High-precision positions get more w">
            <a:extLst xmlns:a="http://schemas.openxmlformats.org/drawingml/2006/main">
              <a:ext uri="{FF2B5EF4-FFF2-40B4-BE49-F238E27FC236}">
                <a16:creationId xmlns:a16="http://schemas.microsoft.com/office/drawing/2014/main" id="{4030413C-BFF3-45EC-A26C-CB3651E17C49}"/>
              </a:ext>
            </a:extLst>
          </p:cNvPr>
          <p:cNvSpPr>
            <a:spLocks xmlns:a="http://schemas.openxmlformats.org/drawingml/2006/main" noGrp="1"/>
          </p:cNvSpPr>
          <p:nvPr/>
        </p:nvSpPr>
        <p:spPr>
          <a:xfrm xmlns:a="http://schemas.openxmlformats.org/drawingml/2006/main">
            <a:off x="590550" y="5619750"/>
            <a:ext cx="962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526272"/>
                </a:solidFill>
                <a:latin typeface="Arial"/>
                <a:ea typeface="Arial"/>
                <a:cs typeface="Arial"/>
              </a:defRPr>
            </a:pPr>
            <a:r>
              <a:rPr sz="1575" b="0">
                <a:solidFill>
                  <a:srgbClr val="526272"/>
                </a:solidFill>
                <a:latin typeface="Arial"/>
                <a:ea typeface="Arial"/>
                <a:cs typeface="Arial"/>
              </a:rPr>
              <a:t>High-precision positions get more weight.</a:t>
            </a:r>
          </a:p>
        </p:txBody>
      </p:sp>
    </p:spTree>
    <p:extLst>
      <p:ext uri="{BB962C8B-B14F-4D97-AF65-F5344CB8AC3E}">
        <p14:creationId xmlns:p14="http://schemas.microsoft.com/office/powerpoint/2010/main" val="2008204827"/>
      </p:ext>
    </p:extLst>
  </p:cSld>
</p:sld>
</file>

<file path=ppt/slides/slide3.xml><?xml version="1.0" encoding="utf-8"?>
<p:sld xmlns:p="http://schemas.openxmlformats.org/presentationml/2006/main">
  <p:cSld>
    <p:bg>
      <p:bgPr>
        <a:solidFill xmlns:a="http://schemas.openxmlformats.org/drawingml/2006/main">
          <a:srgbClr val="FBFCFE"/>
        </a:solidFill>
      </p:bgPr>
    </p:bg>
    <p:spTree>
      <p:nvGrpSpPr>
        <p:cNvPr id="1" name=""/>
        <p:cNvGrpSpPr/>
        <p:nvPr/>
      </p:nvGrpSpPr>
      <p:grpSpPr>
        <a:xfrm xmlns:a="http://schemas.openxmlformats.org/drawingml/2006/main"/>
      </p:grpSpPr>
      <p:sp>
        <p:nvSpPr>
          <p:cNvPr id="12" name="slide-3-title">
            <a:extLst xmlns:a="http://schemas.openxmlformats.org/drawingml/2006/main">
              <a:ext uri="{FF2B5EF4-FFF2-40B4-BE49-F238E27FC236}">
                <a16:creationId xmlns:a16="http://schemas.microsoft.com/office/drawing/2014/main" id="{DE1E4B36-C7AD-4D79-A38D-28C55C029CB8}"/>
              </a:ext>
            </a:extLst>
          </p:cNvPr>
          <p:cNvSpPr>
            <a:spLocks xmlns:a="http://schemas.openxmlformats.org/drawingml/2006/main" noGrp="1"/>
          </p:cNvSpPr>
          <p:nvPr/>
        </p:nvSpPr>
        <p:spPr>
          <a:xfrm xmlns:a="http://schemas.openxmlformats.org/drawingml/2006/main">
            <a:off x="533400" y="266700"/>
            <a:ext cx="111252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50" b="1">
                <a:solidFill>
                  <a:srgbClr val="152334"/>
                </a:solidFill>
                <a:latin typeface="Arial"/>
                <a:ea typeface="Arial"/>
                <a:cs typeface="Arial"/>
              </a:defRPr>
            </a:pPr>
            <a:r>
              <a:rPr sz="2550" b="1">
                <a:solidFill>
                  <a:srgbClr val="152334"/>
                </a:solidFill>
                <a:latin typeface="Arial"/>
                <a:ea typeface="Arial"/>
                <a:cs typeface="Arial"/>
              </a:rPr>
              <a:t>7DT Matching Validation</a:t>
            </a:r>
          </a:p>
        </p:txBody>
      </p:sp>
      <p:sp>
        <p:nvSpPr>
          <p:cNvPr id="2" name="slide-3-subtitle">
            <a:extLst xmlns:a="http://schemas.openxmlformats.org/drawingml/2006/main">
              <a:ext uri="{FF2B5EF4-FFF2-40B4-BE49-F238E27FC236}">
                <a16:creationId xmlns:a16="http://schemas.microsoft.com/office/drawing/2014/main" id="{5A4FD278-93A9-4978-A01A-37964232448D}"/>
              </a:ext>
            </a:extLst>
          </p:cNvPr>
          <p:cNvSpPr>
            <a:spLocks xmlns:a="http://schemas.openxmlformats.org/drawingml/2006/main" noGrp="1"/>
          </p:cNvSpPr>
          <p:nvPr/>
        </p:nvSpPr>
        <p:spPr>
          <a:xfrm xmlns:a="http://schemas.openxmlformats.org/drawingml/2006/main">
            <a:off x="552450" y="866775"/>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26272"/>
                </a:solidFill>
                <a:latin typeface="Arial"/>
                <a:ea typeface="Arial"/>
                <a:cs typeface="Arial"/>
              </a:defRPr>
            </a:pPr>
            <a:r>
              <a:rPr sz="1425" b="0">
                <a:solidFill>
                  <a:srgbClr val="526272"/>
                </a:solidFill>
                <a:latin typeface="Arial"/>
                <a:ea typeface="Arial"/>
                <a:cs typeface="Arial"/>
              </a:rPr>
              <a:t>Accepted members agree with their final master position</a:t>
            </a:r>
          </a:p>
        </p:txBody>
      </p:sp>
      <p:sp>
        <p:nvSpPr>
          <p:cNvPr id="3" name="">
            <a:extLst xmlns:a="http://schemas.openxmlformats.org/drawingml/2006/main">
              <a:ext uri="{FF2B5EF4-FFF2-40B4-BE49-F238E27FC236}">
                <a16:creationId xmlns:a16="http://schemas.microsoft.com/office/drawing/2014/main" id="{644B2F94-5BC5-4793-BBBE-61A17CF9029D}"/>
              </a:ext>
            </a:extLst>
          </p:cNvPr>
          <p:cNvSpPr>
            <a:spLocks xmlns:a="http://schemas.openxmlformats.org/drawingml/2006/main" noGrp="1"/>
          </p:cNvSpPr>
          <p:nvPr/>
        </p:nvSpPr>
        <p:spPr>
          <a:xfrm xmlns:a="http://schemas.openxmlformats.org/drawingml/2006/main">
            <a:off x="552450" y="1133475"/>
            <a:ext cx="11087100" cy="0"/>
          </a:xfrm>
          <a:prstGeom xmlns:a="http://schemas.openxmlformats.org/drawingml/2006/main" prst="line">
            <a:avLst/>
          </a:prstGeom>
          <a:noFill xmlns:a="http://schemas.openxmlformats.org/drawingml/2006/main"/>
          <a:ln xmlns:a="http://schemas.openxmlformats.org/drawingml/2006/main" w="9525">
            <a:solidFill>
              <a:srgbClr val="D7DEE5"/>
            </a:solidFill>
            <a:prstDash val="solid"/>
          </a:ln>
        </p:spPr>
      </p:sp>
      <p:sp>
        <p:nvSpPr>
          <p:cNvPr id="4" name="7DT · COSMOS1">
            <a:extLst xmlns:a="http://schemas.openxmlformats.org/drawingml/2006/main">
              <a:ext uri="{FF2B5EF4-FFF2-40B4-BE49-F238E27FC236}">
                <a16:creationId xmlns:a16="http://schemas.microsoft.com/office/drawing/2014/main" id="{0341BB62-B329-42CE-A20B-5955AC390B2F}"/>
              </a:ext>
            </a:extLst>
          </p:cNvPr>
          <p:cNvSpPr>
            <a:spLocks xmlns:a="http://schemas.openxmlformats.org/drawingml/2006/main" noGrp="1"/>
          </p:cNvSpPr>
          <p:nvPr/>
        </p:nvSpPr>
        <p:spPr>
          <a:xfrm xmlns:a="http://schemas.openxmlformats.org/drawingml/2006/main">
            <a:off x="552450" y="64770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0">
                <a:solidFill>
                  <a:srgbClr val="526272"/>
                </a:solidFill>
                <a:latin typeface="Arial"/>
                <a:ea typeface="Arial"/>
                <a:cs typeface="Arial"/>
              </a:defRPr>
            </a:pPr>
            <a:r>
              <a:rPr sz="1050" b="0">
                <a:solidFill>
                  <a:srgbClr val="526272"/>
                </a:solidFill>
                <a:latin typeface="Arial"/>
                <a:ea typeface="Arial"/>
                <a:cs typeface="Arial"/>
              </a:rPr>
              <a:t>7DT · COSMOS1</a:t>
            </a:r>
          </a:p>
        </p:txBody>
      </p:sp>
      <p:sp>
        <p:nvSpPr>
          <p:cNvPr id="5" name="3">
            <a:extLst xmlns:a="http://schemas.openxmlformats.org/drawingml/2006/main">
              <a:ext uri="{FF2B5EF4-FFF2-40B4-BE49-F238E27FC236}">
                <a16:creationId xmlns:a16="http://schemas.microsoft.com/office/drawing/2014/main" id="{1CCA5372-2A15-43D3-850F-362F291B3379}"/>
              </a:ext>
            </a:extLst>
          </p:cNvPr>
          <p:cNvSpPr>
            <a:spLocks xmlns:a="http://schemas.openxmlformats.org/drawingml/2006/main" noGrp="1"/>
          </p:cNvSpPr>
          <p:nvPr/>
        </p:nvSpPr>
        <p:spPr>
          <a:xfrm xmlns:a="http://schemas.openxmlformats.org/drawingml/2006/main">
            <a:off x="11239500" y="64770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0">
                <a:solidFill>
                  <a:srgbClr val="526272"/>
                </a:solidFill>
                <a:latin typeface="Arial"/>
                <a:ea typeface="Arial"/>
                <a:cs typeface="Arial"/>
              </a:defRPr>
            </a:pPr>
            <a:r>
              <a:rPr sz="1050" b="0">
                <a:solidFill>
                  <a:srgbClr val="526272"/>
                </a:solidFill>
                <a:latin typeface="Arial"/>
                <a:ea typeface="Arial"/>
                <a:cs typeface="Arial"/>
              </a:rPr>
              <a:t>3</a:t>
            </a:r>
          </a:p>
        </p:txBody>
      </p:sp>
      <p:sp>
        <p:nvSpPr>
          <p:cNvPr id="6" name="99.85%">
            <a:extLst xmlns:a="http://schemas.openxmlformats.org/drawingml/2006/main">
              <a:ext uri="{FF2B5EF4-FFF2-40B4-BE49-F238E27FC236}">
                <a16:creationId xmlns:a16="http://schemas.microsoft.com/office/drawing/2014/main" id="{249ECB5D-F7DC-44F6-B038-BAF0FB34727F}"/>
              </a:ext>
            </a:extLst>
          </p:cNvPr>
          <p:cNvSpPr>
            <a:spLocks xmlns:a="http://schemas.openxmlformats.org/drawingml/2006/main" noGrp="1"/>
          </p:cNvSpPr>
          <p:nvPr/>
        </p:nvSpPr>
        <p:spPr>
          <a:xfrm xmlns:a="http://schemas.openxmlformats.org/drawingml/2006/main">
            <a:off x="571500" y="1428750"/>
            <a:ext cx="428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5250" b="1">
                <a:solidFill>
                  <a:srgbClr val="1765A3"/>
                </a:solidFill>
                <a:latin typeface="Arial"/>
                <a:ea typeface="Arial"/>
                <a:cs typeface="Arial"/>
              </a:defRPr>
            </a:pPr>
            <a:r>
              <a:rPr sz="5250" b="1">
                <a:solidFill>
                  <a:srgbClr val="1765A3"/>
                </a:solidFill>
                <a:latin typeface="Arial"/>
                <a:ea typeface="Arial"/>
                <a:cs typeface="Arial"/>
              </a:rPr>
              <a:t>99.85%</a:t>
            </a:r>
          </a:p>
        </p:txBody>
      </p:sp>
      <p:sp>
        <p:nvSpPr>
          <p:cNvPr id="7" name="within 3σ of the final master">
            <a:extLst xmlns:a="http://schemas.openxmlformats.org/drawingml/2006/main">
              <a:ext uri="{FF2B5EF4-FFF2-40B4-BE49-F238E27FC236}">
                <a16:creationId xmlns:a16="http://schemas.microsoft.com/office/drawing/2014/main" id="{7BE96A92-C89C-4355-BA52-B96C1B99A4A0}"/>
              </a:ext>
            </a:extLst>
          </p:cNvPr>
          <p:cNvSpPr>
            <a:spLocks xmlns:a="http://schemas.openxmlformats.org/drawingml/2006/main" noGrp="1"/>
          </p:cNvSpPr>
          <p:nvPr/>
        </p:nvSpPr>
        <p:spPr>
          <a:xfrm xmlns:a="http://schemas.openxmlformats.org/drawingml/2006/main">
            <a:off x="609600" y="2219325"/>
            <a:ext cx="6477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1">
                <a:solidFill>
                  <a:srgbClr val="152334"/>
                </a:solidFill>
                <a:latin typeface="Arial"/>
                <a:ea typeface="Arial"/>
                <a:cs typeface="Arial"/>
              </a:defRPr>
            </a:pPr>
            <a:r>
              <a:rPr sz="1800" b="1">
                <a:solidFill>
                  <a:srgbClr val="152334"/>
                </a:solidFill>
                <a:latin typeface="Arial"/>
                <a:ea typeface="Arial"/>
                <a:cs typeface="Arial"/>
              </a:rPr>
              <a:t>within 3σ of the final master</a:t>
            </a:r>
          </a:p>
        </p:txBody>
      </p:sp>
      <p:sp>
        <p:nvSpPr>
          <p:cNvPr id="8" name="117 suspect members of 78,882 detec">
            <a:extLst xmlns:a="http://schemas.openxmlformats.org/drawingml/2006/main">
              <a:ext uri="{FF2B5EF4-FFF2-40B4-BE49-F238E27FC236}">
                <a16:creationId xmlns:a16="http://schemas.microsoft.com/office/drawing/2014/main" id="{670C7EA3-E879-47DB-94CF-8782F6CE006C}"/>
              </a:ext>
            </a:extLst>
          </p:cNvPr>
          <p:cNvSpPr>
            <a:spLocks xmlns:a="http://schemas.openxmlformats.org/drawingml/2006/main" noGrp="1"/>
          </p:cNvSpPr>
          <p:nvPr/>
        </p:nvSpPr>
        <p:spPr>
          <a:xfrm xmlns:a="http://schemas.openxmlformats.org/drawingml/2006/main">
            <a:off x="7334250" y="1714500"/>
            <a:ext cx="4381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575" b="0">
                <a:solidFill>
                  <a:srgbClr val="526272"/>
                </a:solidFill>
                <a:latin typeface="Arial"/>
                <a:ea typeface="Arial"/>
                <a:cs typeface="Arial"/>
              </a:defRPr>
            </a:pPr>
            <a:r>
              <a:rPr sz="1575" b="0">
                <a:solidFill>
                  <a:srgbClr val="526272"/>
                </a:solidFill>
                <a:latin typeface="Arial"/>
                <a:ea typeface="Arial"/>
                <a:cs typeface="Arial"/>
              </a:rPr>
              <a:t>117 suspect members of 78,882 detections</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c7f2932ddc064a02"/>
          <a:stretch xmlns:a="http://schemas.openxmlformats.org/drawingml/2006/main"/>
        </p:blipFill>
        <p:spPr>
          <a:xfrm xmlns:a="http://schemas.openxmlformats.org/drawingml/2006/main">
            <a:off x="1235263" y="2790825"/>
            <a:ext cx="3977898" cy="3143250"/>
          </a:xfrm>
          <a:prstGeom xmlns:a="http://schemas.openxmlformats.org/drawingml/2006/main" prst="rect">
            <a:avLst/>
          </a:prstGeom>
        </p:spPr>
      </p:pic>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07ac8c64572b4b15"/>
          <a:stretch xmlns:a="http://schemas.openxmlformats.org/drawingml/2006/main"/>
        </p:blipFill>
        <p:spPr>
          <a:xfrm xmlns:a="http://schemas.openxmlformats.org/drawingml/2006/main">
            <a:off x="6831065" y="2790825"/>
            <a:ext cx="4197246" cy="3143250"/>
          </a:xfrm>
          <a:prstGeom xmlns:a="http://schemas.openxmlformats.org/drawingml/2006/main" prst="rect">
            <a:avLst/>
          </a:prstGeom>
        </p:spPr>
      </p:pic>
      <p:sp>
        <p:nvSpPr>
          <p:cNvPr id="11" name="19,489 masters · 1,157 detected in ">
            <a:extLst xmlns:a="http://schemas.openxmlformats.org/drawingml/2006/main">
              <a:ext uri="{FF2B5EF4-FFF2-40B4-BE49-F238E27FC236}">
                <a16:creationId xmlns:a16="http://schemas.microsoft.com/office/drawing/2014/main" id="{4810911B-BE0D-4ACC-AD0A-64612E28ED04}"/>
              </a:ext>
            </a:extLst>
          </p:cNvPr>
          <p:cNvSpPr>
            <a:spLocks xmlns:a="http://schemas.openxmlformats.org/drawingml/2006/main" noGrp="1"/>
          </p:cNvSpPr>
          <p:nvPr/>
        </p:nvSpPr>
        <p:spPr>
          <a:xfrm xmlns:a="http://schemas.openxmlformats.org/drawingml/2006/main">
            <a:off x="561975" y="6010275"/>
            <a:ext cx="11096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526272"/>
                </a:solidFill>
                <a:latin typeface="Arial"/>
                <a:ea typeface="Arial"/>
                <a:cs typeface="Arial"/>
              </a:defRPr>
            </a:pPr>
            <a:r>
              <a:rPr sz="1275" b="0">
                <a:solidFill>
                  <a:srgbClr val="526272"/>
                </a:solidFill>
                <a:latin typeface="Arial"/>
                <a:ea typeface="Arial"/>
                <a:cs typeface="Arial"/>
              </a:rPr>
              <a:t>19,489 masters · 1,157 detected in all 20 bands · R = dfinal / √(σfinal² + σb²)</a:t>
            </a:r>
          </a:p>
        </p:txBody>
      </p:sp>
    </p:spTree>
    <p:extLst>
      <p:ext uri="{BB962C8B-B14F-4D97-AF65-F5344CB8AC3E}">
        <p14:creationId xmlns:p14="http://schemas.microsoft.com/office/powerpoint/2010/main" val="1249594666"/>
      </p:ext>
    </p:extLst>
  </p:cSld>
</p:sld>
</file>

<file path=ppt/slides/slide4.xml><?xml version="1.0" encoding="utf-8"?>
<p:sld xmlns:p="http://schemas.openxmlformats.org/presentationml/2006/main">
  <p:cSld>
    <p:bg>
      <p:bgPr>
        <a:solidFill xmlns:a="http://schemas.openxmlformats.org/drawingml/2006/main">
          <a:srgbClr val="FBFCFE"/>
        </a:solidFill>
      </p:bgPr>
    </p:bg>
    <p:spTree>
      <p:nvGrpSpPr>
        <p:cNvPr id="1" name=""/>
        <p:cNvGrpSpPr/>
        <p:nvPr/>
      </p:nvGrpSpPr>
      <p:grpSpPr>
        <a:xfrm xmlns:a="http://schemas.openxmlformats.org/drawingml/2006/main"/>
      </p:grpSpPr>
      <p:sp>
        <p:nvSpPr>
          <p:cNvPr id="11" name="slide-4-title">
            <a:extLst xmlns:a="http://schemas.openxmlformats.org/drawingml/2006/main">
              <a:ext uri="{FF2B5EF4-FFF2-40B4-BE49-F238E27FC236}">
                <a16:creationId xmlns:a16="http://schemas.microsoft.com/office/drawing/2014/main" id="{D8DF47AB-D65A-4C2D-AA16-49DD213BD97D}"/>
              </a:ext>
            </a:extLst>
          </p:cNvPr>
          <p:cNvSpPr>
            <a:spLocks xmlns:a="http://schemas.openxmlformats.org/drawingml/2006/main" noGrp="1"/>
          </p:cNvSpPr>
          <p:nvPr/>
        </p:nvSpPr>
        <p:spPr>
          <a:xfrm xmlns:a="http://schemas.openxmlformats.org/drawingml/2006/main">
            <a:off x="533400" y="266700"/>
            <a:ext cx="111252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50" b="1">
                <a:solidFill>
                  <a:srgbClr val="152334"/>
                </a:solidFill>
                <a:latin typeface="Arial"/>
                <a:ea typeface="Arial"/>
                <a:cs typeface="Arial"/>
              </a:defRPr>
            </a:pPr>
            <a:r>
              <a:rPr sz="2550" b="1">
                <a:solidFill>
                  <a:srgbClr val="152334"/>
                </a:solidFill>
                <a:latin typeface="Arial"/>
                <a:ea typeface="Arial"/>
                <a:cs typeface="Arial"/>
              </a:rPr>
              <a:t>FINALCAT Match Radius</a:t>
            </a:r>
          </a:p>
        </p:txBody>
      </p:sp>
      <p:sp>
        <p:nvSpPr>
          <p:cNvPr id="2" name="slide-4-subtitle">
            <a:extLst xmlns:a="http://schemas.openxmlformats.org/drawingml/2006/main">
              <a:ext uri="{FF2B5EF4-FFF2-40B4-BE49-F238E27FC236}">
                <a16:creationId xmlns:a16="http://schemas.microsoft.com/office/drawing/2014/main" id="{696C235B-D444-49D2-B136-6D358C2EA40E}"/>
              </a:ext>
            </a:extLst>
          </p:cNvPr>
          <p:cNvSpPr>
            <a:spLocks xmlns:a="http://schemas.openxmlformats.org/drawingml/2006/main" noGrp="1"/>
          </p:cNvSpPr>
          <p:nvPr/>
        </p:nvSpPr>
        <p:spPr>
          <a:xfrm xmlns:a="http://schemas.openxmlformats.org/drawingml/2006/main">
            <a:off x="552450" y="866775"/>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26272"/>
                </a:solidFill>
                <a:latin typeface="Arial"/>
                <a:ea typeface="Arial"/>
                <a:cs typeface="Arial"/>
              </a:defRPr>
            </a:pPr>
            <a:r>
              <a:rPr sz="1425" b="0">
                <a:solidFill>
                  <a:srgbClr val="526272"/>
                </a:solidFill>
                <a:latin typeface="Arial"/>
                <a:ea typeface="Arial"/>
                <a:cs typeface="Arial"/>
              </a:rPr>
              <a:t>The random-shift test supports a 0.7″ sky-match radius</a:t>
            </a:r>
          </a:p>
        </p:txBody>
      </p:sp>
      <p:sp>
        <p:nvSpPr>
          <p:cNvPr id="3" name="">
            <a:extLst xmlns:a="http://schemas.openxmlformats.org/drawingml/2006/main">
              <a:ext uri="{FF2B5EF4-FFF2-40B4-BE49-F238E27FC236}">
                <a16:creationId xmlns:a16="http://schemas.microsoft.com/office/drawing/2014/main" id="{051ABD9B-A753-4E17-B2A2-DF2116CCA7A8}"/>
              </a:ext>
            </a:extLst>
          </p:cNvPr>
          <p:cNvSpPr>
            <a:spLocks xmlns:a="http://schemas.openxmlformats.org/drawingml/2006/main" noGrp="1"/>
          </p:cNvSpPr>
          <p:nvPr/>
        </p:nvSpPr>
        <p:spPr>
          <a:xfrm xmlns:a="http://schemas.openxmlformats.org/drawingml/2006/main">
            <a:off x="552450" y="1133475"/>
            <a:ext cx="11087100" cy="0"/>
          </a:xfrm>
          <a:prstGeom xmlns:a="http://schemas.openxmlformats.org/drawingml/2006/main" prst="line">
            <a:avLst/>
          </a:prstGeom>
          <a:noFill xmlns:a="http://schemas.openxmlformats.org/drawingml/2006/main"/>
          <a:ln xmlns:a="http://schemas.openxmlformats.org/drawingml/2006/main" w="9525">
            <a:solidFill>
              <a:srgbClr val="D7DEE5"/>
            </a:solidFill>
            <a:prstDash val="solid"/>
          </a:ln>
        </p:spPr>
      </p:sp>
      <p:sp>
        <p:nvSpPr>
          <p:cNvPr id="4" name="7DT · COSMOS1">
            <a:extLst xmlns:a="http://schemas.openxmlformats.org/drawingml/2006/main">
              <a:ext uri="{FF2B5EF4-FFF2-40B4-BE49-F238E27FC236}">
                <a16:creationId xmlns:a16="http://schemas.microsoft.com/office/drawing/2014/main" id="{DBBAA9A5-1E37-4DD2-A8C3-C16B6221E5FC}"/>
              </a:ext>
            </a:extLst>
          </p:cNvPr>
          <p:cNvSpPr>
            <a:spLocks xmlns:a="http://schemas.openxmlformats.org/drawingml/2006/main" noGrp="1"/>
          </p:cNvSpPr>
          <p:nvPr/>
        </p:nvSpPr>
        <p:spPr>
          <a:xfrm xmlns:a="http://schemas.openxmlformats.org/drawingml/2006/main">
            <a:off x="552450" y="64770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0">
                <a:solidFill>
                  <a:srgbClr val="526272"/>
                </a:solidFill>
                <a:latin typeface="Arial"/>
                <a:ea typeface="Arial"/>
                <a:cs typeface="Arial"/>
              </a:defRPr>
            </a:pPr>
            <a:r>
              <a:rPr sz="1050" b="0">
                <a:solidFill>
                  <a:srgbClr val="526272"/>
                </a:solidFill>
                <a:latin typeface="Arial"/>
                <a:ea typeface="Arial"/>
                <a:cs typeface="Arial"/>
              </a:rPr>
              <a:t>7DT · COSMOS1</a:t>
            </a:r>
          </a:p>
        </p:txBody>
      </p:sp>
      <p:sp>
        <p:nvSpPr>
          <p:cNvPr id="5" name="4">
            <a:extLst xmlns:a="http://schemas.openxmlformats.org/drawingml/2006/main">
              <a:ext uri="{FF2B5EF4-FFF2-40B4-BE49-F238E27FC236}">
                <a16:creationId xmlns:a16="http://schemas.microsoft.com/office/drawing/2014/main" id="{8CC89959-17CD-43A3-9165-5B61211D7592}"/>
              </a:ext>
            </a:extLst>
          </p:cNvPr>
          <p:cNvSpPr>
            <a:spLocks xmlns:a="http://schemas.openxmlformats.org/drawingml/2006/main" noGrp="1"/>
          </p:cNvSpPr>
          <p:nvPr/>
        </p:nvSpPr>
        <p:spPr>
          <a:xfrm xmlns:a="http://schemas.openxmlformats.org/drawingml/2006/main">
            <a:off x="11239500" y="64770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0">
                <a:solidFill>
                  <a:srgbClr val="526272"/>
                </a:solidFill>
                <a:latin typeface="Arial"/>
                <a:ea typeface="Arial"/>
                <a:cs typeface="Arial"/>
              </a:defRPr>
            </a:pPr>
            <a:r>
              <a:rPr sz="1050" b="0">
                <a:solidFill>
                  <a:srgbClr val="526272"/>
                </a:solidFill>
                <a:latin typeface="Arial"/>
                <a:ea typeface="Arial"/>
                <a:cs typeface="Arial"/>
              </a:rPr>
              <a:t>4</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21dc41e746c843c6"/>
          <a:stretch xmlns:a="http://schemas.openxmlformats.org/drawingml/2006/main"/>
        </p:blipFill>
        <p:spPr>
          <a:xfrm xmlns:a="http://schemas.openxmlformats.org/drawingml/2006/main">
            <a:off x="532128" y="1495425"/>
            <a:ext cx="3526793" cy="2895600"/>
          </a:xfrm>
          <a:prstGeom xmlns:a="http://schemas.openxmlformats.org/drawingml/2006/main" prst="rect">
            <a:avLst/>
          </a:prstGeom>
        </p:spPr>
      </p:pic>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63fcea8b68e1418a"/>
          <a:stretch xmlns:a="http://schemas.openxmlformats.org/drawingml/2006/main"/>
        </p:blipFill>
        <p:spPr>
          <a:xfrm xmlns:a="http://schemas.openxmlformats.org/drawingml/2006/main">
            <a:off x="4302056" y="1495425"/>
            <a:ext cx="3530738" cy="2895600"/>
          </a:xfrm>
          <a:prstGeom xmlns:a="http://schemas.openxmlformats.org/drawingml/2006/main" prst="rect">
            <a:avLst/>
          </a:prstGeom>
        </p:spPr>
      </p:pic>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222f04ffcb2e4bd0"/>
          <a:stretch xmlns:a="http://schemas.openxmlformats.org/drawingml/2006/main"/>
        </p:blipFill>
        <p:spPr>
          <a:xfrm xmlns:a="http://schemas.openxmlformats.org/drawingml/2006/main">
            <a:off x="8075928" y="1495425"/>
            <a:ext cx="3526793" cy="2895600"/>
          </a:xfrm>
          <a:prstGeom xmlns:a="http://schemas.openxmlformats.org/drawingml/2006/main" prst="rect">
            <a:avLst/>
          </a:prstGeom>
        </p:spPr>
      </p:pic>
      <p:graphicFrame>
        <p:nvGraphicFramePr>
          <p:cNvPr id="19" name=""/>
          <p:cNvGraphicFramePr/>
          <p:nvPr/>
        </p:nvGraphicFramePr>
        <p:xfrm>
          <a:off xmlns:a="http://schemas.openxmlformats.org/drawingml/2006/main" x="990600" y="4705350"/>
          <a:ext xmlns:a="http://schemas.openxmlformats.org/drawingml/2006/main" cx="10210800" cy="1466850"/>
        </p:xfrm>
        <a:graphic xmlns:a="http://schemas.openxmlformats.org/drawingml/2006/main">
          <a:graphicData uri="http://schemas.openxmlformats.org/drawingml/2006/table">
            <a:tbl>
              <a:tblPr/>
              <a:tblGrid>
                <a:gridCol w="2238375"/>
                <a:gridCol w="2333625"/>
                <a:gridCol w="2762250"/>
                <a:gridCol w="2876550"/>
              </a:tblGrid>
              <a:tr h="366713">
                <a:tc>
                  <a:txBody>
                    <a:bodyPr>
                      <a:noAutofit/>
                    </a:bodyPr>
                    <a:lstStyle/>
                    <a:p>
                      <a:pPr algn="l"/>
                      <a:r>
                        <a:rPr sz="1350" b="1">
                          <a:solidFill>
                            <a:srgbClr val="152334"/>
                          </a:solidFill>
                          <a:latin typeface="Arial"/>
                          <a:ea typeface="Arial"/>
                          <a:cs typeface="Arial"/>
                        </a:rPr>
                        <a:t>Radius</a:t>
                      </a:r>
                    </a:p>
                  </a:txBody>
                  <a:tcPr marL="91440" marR="91440" marT="45720" marB="45720" anchor="ctr">
                    <a:solidFill>
                      <a:srgbClr val="E8F1F8"/>
                    </a:solidFill>
                  </a:tcPr>
                </a:tc>
                <a:tc>
                  <a:txBody>
                    <a:bodyPr>
                      <a:noAutofit/>
                    </a:bodyPr>
                    <a:lstStyle/>
                    <a:p>
                      <a:pPr algn="r"/>
                      <a:r>
                        <a:rPr sz="1350" b="1">
                          <a:solidFill>
                            <a:srgbClr val="152334"/>
                          </a:solidFill>
                          <a:latin typeface="Arial"/>
                          <a:ea typeface="Arial"/>
                          <a:cs typeface="Arial"/>
                        </a:rPr>
                        <a:t>Actual matches</a:t>
                      </a:r>
                    </a:p>
                  </a:txBody>
                  <a:tcPr marL="91440" marR="91440" marT="45720" marB="45720" anchor="ctr">
                    <a:solidFill>
                      <a:srgbClr val="E8F1F8"/>
                    </a:solidFill>
                  </a:tcPr>
                </a:tc>
                <a:tc>
                  <a:txBody>
                    <a:bodyPr>
                      <a:noAutofit/>
                    </a:bodyPr>
                    <a:lstStyle/>
                    <a:p>
                      <a:pPr algn="r"/>
                      <a:r>
                        <a:rPr sz="1350" b="1">
                          <a:solidFill>
                            <a:srgbClr val="152334"/>
                          </a:solidFill>
                          <a:latin typeface="Arial"/>
                          <a:ea typeface="Arial"/>
                          <a:cs typeface="Arial"/>
                        </a:rPr>
                        <a:t>Shifted random</a:t>
                      </a:r>
                    </a:p>
                  </a:txBody>
                  <a:tcPr marL="91440" marR="91440" marT="45720" marB="45720" anchor="ctr">
                    <a:solidFill>
                      <a:srgbClr val="E8F1F8"/>
                    </a:solidFill>
                  </a:tcPr>
                </a:tc>
                <a:tc>
                  <a:txBody>
                    <a:bodyPr>
                      <a:noAutofit/>
                    </a:bodyPr>
                    <a:lstStyle/>
                    <a:p>
                      <a:pPr algn="r"/>
                      <a:r>
                        <a:rPr sz="1350" b="1">
                          <a:solidFill>
                            <a:srgbClr val="152334"/>
                          </a:solidFill>
                          <a:latin typeface="Arial"/>
                          <a:ea typeface="Arial"/>
                          <a:cs typeface="Arial"/>
                        </a:rPr>
                        <a:t>Random / actual</a:t>
                      </a:r>
                    </a:p>
                  </a:txBody>
                  <a:tcPr marL="91440" marR="91440" marT="45720" marB="45720" anchor="ctr">
                    <a:solidFill>
                      <a:srgbClr val="E8F1F8"/>
                    </a:solidFill>
                  </a:tcPr>
                </a:tc>
              </a:tr>
              <a:tr h="366713">
                <a:tc>
                  <a:txBody>
                    <a:bodyPr>
                      <a:noAutofit/>
                    </a:bodyPr>
                    <a:lstStyle/>
                    <a:p>
                      <a:pPr algn="l"/>
                      <a:r>
                        <a:rPr sz="1350" b="0">
                          <a:solidFill>
                            <a:srgbClr val="152334"/>
                          </a:solidFill>
                          <a:latin typeface="Arial"/>
                          <a:ea typeface="Arial"/>
                          <a:cs typeface="Arial"/>
                        </a:rPr>
                        <a:t>0.5″</a:t>
                      </a:r>
                    </a:p>
                  </a:txBody>
                  <a:tcPr marL="91440" marR="91440" marT="45720" marB="45720" anchor="ctr">
                    <a:solidFill>
                      <a:srgbClr val="FFFFFF"/>
                    </a:solidFill>
                  </a:tcPr>
                </a:tc>
                <a:tc>
                  <a:txBody>
                    <a:bodyPr>
                      <a:noAutofit/>
                    </a:bodyPr>
                    <a:lstStyle/>
                    <a:p>
                      <a:pPr algn="r"/>
                      <a:r>
                        <a:rPr sz="1350" b="0">
                          <a:solidFill>
                            <a:srgbClr val="152334"/>
                          </a:solidFill>
                          <a:latin typeface="Arial"/>
                          <a:ea typeface="Arial"/>
                          <a:cs typeface="Arial"/>
                        </a:rPr>
                        <a:t>2,682</a:t>
                      </a:r>
                    </a:p>
                  </a:txBody>
                  <a:tcPr marL="91440" marR="91440" marT="45720" marB="45720" anchor="ctr">
                    <a:solidFill>
                      <a:srgbClr val="FFFFFF"/>
                    </a:solidFill>
                  </a:tcPr>
                </a:tc>
                <a:tc>
                  <a:txBody>
                    <a:bodyPr>
                      <a:noAutofit/>
                    </a:bodyPr>
                    <a:lstStyle/>
                    <a:p>
                      <a:pPr algn="r"/>
                      <a:r>
                        <a:rPr sz="1350" b="0">
                          <a:solidFill>
                            <a:srgbClr val="152334"/>
                          </a:solidFill>
                          <a:latin typeface="Arial"/>
                          <a:ea typeface="Arial"/>
                          <a:cs typeface="Arial"/>
                        </a:rPr>
                        <a:t>55.8 ± 5.2</a:t>
                      </a:r>
                    </a:p>
                  </a:txBody>
                  <a:tcPr marL="91440" marR="91440" marT="45720" marB="45720" anchor="ctr">
                    <a:solidFill>
                      <a:srgbClr val="FFFFFF"/>
                    </a:solidFill>
                  </a:tcPr>
                </a:tc>
                <a:tc>
                  <a:txBody>
                    <a:bodyPr>
                      <a:noAutofit/>
                    </a:bodyPr>
                    <a:lstStyle/>
                    <a:p>
                      <a:pPr algn="r"/>
                      <a:r>
                        <a:rPr sz="1350" b="0">
                          <a:solidFill>
                            <a:srgbClr val="152334"/>
                          </a:solidFill>
                          <a:latin typeface="Arial"/>
                          <a:ea typeface="Arial"/>
                          <a:cs typeface="Arial"/>
                        </a:rPr>
                        <a:t>2.08%</a:t>
                      </a:r>
                    </a:p>
                  </a:txBody>
                  <a:tcPr marL="91440" marR="91440" marT="45720" marB="45720" anchor="ctr">
                    <a:solidFill>
                      <a:srgbClr val="FFFFFF"/>
                    </a:solidFill>
                  </a:tcPr>
                </a:tc>
              </a:tr>
              <a:tr h="366713">
                <a:tc>
                  <a:txBody>
                    <a:bodyPr>
                      <a:noAutofit/>
                    </a:bodyPr>
                    <a:lstStyle/>
                    <a:p>
                      <a:pPr algn="l"/>
                      <a:r>
                        <a:rPr sz="1350" b="1">
                          <a:solidFill>
                            <a:srgbClr val="1765A3"/>
                          </a:solidFill>
                          <a:latin typeface="Arial"/>
                          <a:ea typeface="Arial"/>
                          <a:cs typeface="Arial"/>
                        </a:rPr>
                        <a:t>0.7″</a:t>
                      </a:r>
                    </a:p>
                  </a:txBody>
                  <a:tcPr marL="91440" marR="91440" marT="45720" marB="45720" anchor="ctr">
                    <a:solidFill>
                      <a:srgbClr val="EEF6FC"/>
                    </a:solidFill>
                  </a:tcPr>
                </a:tc>
                <a:tc>
                  <a:txBody>
                    <a:bodyPr>
                      <a:noAutofit/>
                    </a:bodyPr>
                    <a:lstStyle/>
                    <a:p>
                      <a:pPr algn="r"/>
                      <a:r>
                        <a:rPr sz="1350" b="1">
                          <a:solidFill>
                            <a:srgbClr val="1765A3"/>
                          </a:solidFill>
                          <a:latin typeface="Arial"/>
                          <a:ea typeface="Arial"/>
                          <a:cs typeface="Arial"/>
                        </a:rPr>
                        <a:t>2,977</a:t>
                      </a:r>
                    </a:p>
                  </a:txBody>
                  <a:tcPr marL="91440" marR="91440" marT="45720" marB="45720" anchor="ctr">
                    <a:solidFill>
                      <a:srgbClr val="EEF6FC"/>
                    </a:solidFill>
                  </a:tcPr>
                </a:tc>
                <a:tc>
                  <a:txBody>
                    <a:bodyPr>
                      <a:noAutofit/>
                    </a:bodyPr>
                    <a:lstStyle/>
                    <a:p>
                      <a:pPr algn="r"/>
                      <a:r>
                        <a:rPr sz="1350" b="1">
                          <a:solidFill>
                            <a:srgbClr val="1765A3"/>
                          </a:solidFill>
                          <a:latin typeface="Arial"/>
                          <a:ea typeface="Arial"/>
                          <a:cs typeface="Arial"/>
                        </a:rPr>
                        <a:t>107.9 ± 7.2</a:t>
                      </a:r>
                    </a:p>
                  </a:txBody>
                  <a:tcPr marL="91440" marR="91440" marT="45720" marB="45720" anchor="ctr">
                    <a:solidFill>
                      <a:srgbClr val="EEF6FC"/>
                    </a:solidFill>
                  </a:tcPr>
                </a:tc>
                <a:tc>
                  <a:txBody>
                    <a:bodyPr>
                      <a:noAutofit/>
                    </a:bodyPr>
                    <a:lstStyle/>
                    <a:p>
                      <a:pPr algn="r"/>
                      <a:r>
                        <a:rPr sz="1350" b="1">
                          <a:solidFill>
                            <a:srgbClr val="1765A3"/>
                          </a:solidFill>
                          <a:latin typeface="Arial"/>
                          <a:ea typeface="Arial"/>
                          <a:cs typeface="Arial"/>
                        </a:rPr>
                        <a:t>3.62%</a:t>
                      </a:r>
                    </a:p>
                  </a:txBody>
                  <a:tcPr marL="91440" marR="91440" marT="45720" marB="45720" anchor="ctr">
                    <a:solidFill>
                      <a:srgbClr val="EEF6FC"/>
                    </a:solidFill>
                  </a:tcPr>
                </a:tc>
              </a:tr>
              <a:tr h="366713">
                <a:tc>
                  <a:txBody>
                    <a:bodyPr>
                      <a:noAutofit/>
                    </a:bodyPr>
                    <a:lstStyle/>
                    <a:p>
                      <a:pPr algn="l"/>
                      <a:r>
                        <a:rPr sz="1350" b="0">
                          <a:solidFill>
                            <a:srgbClr val="152334"/>
                          </a:solidFill>
                          <a:latin typeface="Arial"/>
                          <a:ea typeface="Arial"/>
                          <a:cs typeface="Arial"/>
                        </a:rPr>
                        <a:t>1.0″</a:t>
                      </a:r>
                    </a:p>
                  </a:txBody>
                  <a:tcPr marL="91440" marR="91440" marT="45720" marB="45720" anchor="ctr">
                    <a:solidFill>
                      <a:srgbClr val="FFFFFF"/>
                    </a:solidFill>
                  </a:tcPr>
                </a:tc>
                <a:tc>
                  <a:txBody>
                    <a:bodyPr>
                      <a:noAutofit/>
                    </a:bodyPr>
                    <a:lstStyle/>
                    <a:p>
                      <a:pPr algn="r"/>
                      <a:r>
                        <a:rPr sz="1350" b="0">
                          <a:solidFill>
                            <a:srgbClr val="152334"/>
                          </a:solidFill>
                          <a:latin typeface="Arial"/>
                          <a:ea typeface="Arial"/>
                          <a:cs typeface="Arial"/>
                        </a:rPr>
                        <a:t>3,212</a:t>
                      </a:r>
                    </a:p>
                  </a:txBody>
                  <a:tcPr marL="91440" marR="91440" marT="45720" marB="45720" anchor="ctr">
                    <a:solidFill>
                      <a:srgbClr val="FFFFFF"/>
                    </a:solidFill>
                  </a:tcPr>
                </a:tc>
                <a:tc>
                  <a:txBody>
                    <a:bodyPr>
                      <a:noAutofit/>
                    </a:bodyPr>
                    <a:lstStyle/>
                    <a:p>
                      <a:pPr algn="r"/>
                      <a:r>
                        <a:rPr sz="1350" b="0">
                          <a:solidFill>
                            <a:srgbClr val="152334"/>
                          </a:solidFill>
                          <a:latin typeface="Arial"/>
                          <a:ea typeface="Arial"/>
                          <a:cs typeface="Arial"/>
                        </a:rPr>
                        <a:t>211.4 ± 16.9</a:t>
                      </a:r>
                    </a:p>
                  </a:txBody>
                  <a:tcPr marL="91440" marR="91440" marT="45720" marB="45720" anchor="ctr">
                    <a:solidFill>
                      <a:srgbClr val="FFFFFF"/>
                    </a:solidFill>
                  </a:tcPr>
                </a:tc>
                <a:tc>
                  <a:txBody>
                    <a:bodyPr>
                      <a:noAutofit/>
                    </a:bodyPr>
                    <a:lstStyle/>
                    <a:p>
                      <a:pPr algn="r"/>
                      <a:r>
                        <a:rPr sz="1350" b="0">
                          <a:solidFill>
                            <a:srgbClr val="152334"/>
                          </a:solidFill>
                          <a:latin typeface="Arial"/>
                          <a:ea typeface="Arial"/>
                          <a:cs typeface="Arial"/>
                        </a:rPr>
                        <a:t>6.58%</a:t>
                      </a:r>
                    </a:p>
                  </a:txBody>
                  <a:tcPr marL="91440" marR="91440" marT="45720" marB="45720" anchor="ctr">
                    <a:solidFill>
                      <a:srgbClr val="FFFFFF"/>
                    </a:solidFill>
                  </a:tcPr>
                </a:tc>
              </a:tr>
            </a:tbl>
          </a:graphicData>
        </a:graphic>
      </p:graphicFrame>
      <p:sp>
        <p:nvSpPr>
          <p:cNvPr id="10" name="Eight 10″ or 20″ shifts estimate ch">
            <a:extLst xmlns:a="http://schemas.openxmlformats.org/drawingml/2006/main">
              <a:ext uri="{FF2B5EF4-FFF2-40B4-BE49-F238E27FC236}">
                <a16:creationId xmlns:a16="http://schemas.microsoft.com/office/drawing/2014/main" id="{CA26EC32-E27C-457E-9BB6-A8CA382633EE}"/>
              </a:ext>
            </a:extLst>
          </p:cNvPr>
          <p:cNvSpPr>
            <a:spLocks xmlns:a="http://schemas.openxmlformats.org/drawingml/2006/main" noGrp="1"/>
          </p:cNvSpPr>
          <p:nvPr/>
        </p:nvSpPr>
        <p:spPr>
          <a:xfrm xmlns:a="http://schemas.openxmlformats.org/drawingml/2006/main">
            <a:off x="990600" y="6219825"/>
            <a:ext cx="10048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526272"/>
                </a:solidFill>
                <a:latin typeface="Arial"/>
                <a:ea typeface="Arial"/>
                <a:cs typeface="Arial"/>
              </a:defRPr>
            </a:pPr>
            <a:r>
              <a:rPr sz="1275" b="0">
                <a:solidFill>
                  <a:srgbClr val="526272"/>
                </a:solidFill>
                <a:latin typeface="Arial"/>
                <a:ea typeface="Arial"/>
                <a:cs typeface="Arial"/>
              </a:rPr>
              <a:t>Eight 10″ or 20″ shifts estimate chance associations.</a:t>
            </a:r>
          </a:p>
        </p:txBody>
      </p:sp>
    </p:spTree>
    <p:extLst>
      <p:ext uri="{BB962C8B-B14F-4D97-AF65-F5344CB8AC3E}">
        <p14:creationId xmlns:p14="http://schemas.microsoft.com/office/powerpoint/2010/main" val="1323310565"/>
      </p:ext>
    </p:extLst>
  </p:cSld>
</p:sld>
</file>

<file path=ppt/slides/slide5.xml><?xml version="1.0" encoding="utf-8"?>
<p:sld xmlns:p="http://schemas.openxmlformats.org/presentationml/2006/main">
  <p:cSld>
    <p:bg>
      <p:bgPr>
        <a:solidFill xmlns:a="http://schemas.openxmlformats.org/drawingml/2006/main">
          <a:srgbClr val="FBFCFE"/>
        </a:solidFill>
      </p:bgPr>
    </p:bg>
    <p:spTree>
      <p:nvGrpSpPr>
        <p:cNvPr id="1" name=""/>
        <p:cNvGrpSpPr/>
        <p:nvPr/>
      </p:nvGrpSpPr>
      <p:grpSpPr>
        <a:xfrm xmlns:a="http://schemas.openxmlformats.org/drawingml/2006/main"/>
      </p:grpSpPr>
      <p:sp>
        <p:nvSpPr>
          <p:cNvPr id="9" name="slide-5-title">
            <a:extLst xmlns:a="http://schemas.openxmlformats.org/drawingml/2006/main">
              <a:ext uri="{FF2B5EF4-FFF2-40B4-BE49-F238E27FC236}">
                <a16:creationId xmlns:a16="http://schemas.microsoft.com/office/drawing/2014/main" id="{C9A5A322-EBDA-4A72-8FC5-A768CBA6B191}"/>
              </a:ext>
            </a:extLst>
          </p:cNvPr>
          <p:cNvSpPr>
            <a:spLocks xmlns:a="http://schemas.openxmlformats.org/drawingml/2006/main" noGrp="1"/>
          </p:cNvSpPr>
          <p:nvPr/>
        </p:nvSpPr>
        <p:spPr>
          <a:xfrm xmlns:a="http://schemas.openxmlformats.org/drawingml/2006/main">
            <a:off x="533400" y="266700"/>
            <a:ext cx="111252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50" b="1">
                <a:solidFill>
                  <a:srgbClr val="152334"/>
                </a:solidFill>
                <a:latin typeface="Arial"/>
                <a:ea typeface="Arial"/>
                <a:cs typeface="Arial"/>
              </a:defRPr>
            </a:pPr>
            <a:r>
              <a:rPr sz="2550" b="1">
                <a:solidFill>
                  <a:srgbClr val="152334"/>
                </a:solidFill>
                <a:latin typeface="Arial"/>
                <a:ea typeface="Arial"/>
                <a:cs typeface="Arial"/>
              </a:rPr>
              <a:t>Final Union Catalog</a:t>
            </a:r>
          </a:p>
        </p:txBody>
      </p:sp>
      <p:sp>
        <p:nvSpPr>
          <p:cNvPr id="2" name="slide-5-subtitle">
            <a:extLst xmlns:a="http://schemas.openxmlformats.org/drawingml/2006/main">
              <a:ext uri="{FF2B5EF4-FFF2-40B4-BE49-F238E27FC236}">
                <a16:creationId xmlns:a16="http://schemas.microsoft.com/office/drawing/2014/main" id="{A45D8FB3-2209-46F6-B570-96497DAD15D6}"/>
              </a:ext>
            </a:extLst>
          </p:cNvPr>
          <p:cNvSpPr>
            <a:spLocks xmlns:a="http://schemas.openxmlformats.org/drawingml/2006/main" noGrp="1"/>
          </p:cNvSpPr>
          <p:nvPr/>
        </p:nvSpPr>
        <p:spPr>
          <a:xfrm xmlns:a="http://schemas.openxmlformats.org/drawingml/2006/main">
            <a:off x="552450" y="866775"/>
            <a:ext cx="1104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26272"/>
                </a:solidFill>
                <a:latin typeface="Arial"/>
                <a:ea typeface="Arial"/>
                <a:cs typeface="Arial"/>
              </a:defRPr>
            </a:pPr>
            <a:r>
              <a:rPr sz="1425" b="0">
                <a:solidFill>
                  <a:srgbClr val="526272"/>
                </a:solidFill>
                <a:latin typeface="Arial"/>
                <a:ea typeface="Arial"/>
                <a:cs typeface="Arial"/>
              </a:rPr>
              <a:t>2,977 shared objects in a 75,259-object catalog</a:t>
            </a:r>
          </a:p>
        </p:txBody>
      </p:sp>
      <p:sp>
        <p:nvSpPr>
          <p:cNvPr id="3" name="">
            <a:extLst xmlns:a="http://schemas.openxmlformats.org/drawingml/2006/main">
              <a:ext uri="{FF2B5EF4-FFF2-40B4-BE49-F238E27FC236}">
                <a16:creationId xmlns:a16="http://schemas.microsoft.com/office/drawing/2014/main" id="{EF909B04-8905-4304-BA0F-C0C0B3AC3C70}"/>
              </a:ext>
            </a:extLst>
          </p:cNvPr>
          <p:cNvSpPr>
            <a:spLocks xmlns:a="http://schemas.openxmlformats.org/drawingml/2006/main" noGrp="1"/>
          </p:cNvSpPr>
          <p:nvPr/>
        </p:nvSpPr>
        <p:spPr>
          <a:xfrm xmlns:a="http://schemas.openxmlformats.org/drawingml/2006/main">
            <a:off x="552450" y="1133475"/>
            <a:ext cx="11087100" cy="0"/>
          </a:xfrm>
          <a:prstGeom xmlns:a="http://schemas.openxmlformats.org/drawingml/2006/main" prst="line">
            <a:avLst/>
          </a:prstGeom>
          <a:noFill xmlns:a="http://schemas.openxmlformats.org/drawingml/2006/main"/>
          <a:ln xmlns:a="http://schemas.openxmlformats.org/drawingml/2006/main" w="9525">
            <a:solidFill>
              <a:srgbClr val="D7DEE5"/>
            </a:solidFill>
            <a:prstDash val="solid"/>
          </a:ln>
        </p:spPr>
      </p:sp>
      <p:sp>
        <p:nvSpPr>
          <p:cNvPr id="4" name="7DT · COSMOS1">
            <a:extLst xmlns:a="http://schemas.openxmlformats.org/drawingml/2006/main">
              <a:ext uri="{FF2B5EF4-FFF2-40B4-BE49-F238E27FC236}">
                <a16:creationId xmlns:a16="http://schemas.microsoft.com/office/drawing/2014/main" id="{09562E65-543B-4DCA-86CF-3099DEAF8397}"/>
              </a:ext>
            </a:extLst>
          </p:cNvPr>
          <p:cNvSpPr>
            <a:spLocks xmlns:a="http://schemas.openxmlformats.org/drawingml/2006/main" noGrp="1"/>
          </p:cNvSpPr>
          <p:nvPr/>
        </p:nvSpPr>
        <p:spPr>
          <a:xfrm xmlns:a="http://schemas.openxmlformats.org/drawingml/2006/main">
            <a:off x="552450" y="647700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0">
                <a:solidFill>
                  <a:srgbClr val="526272"/>
                </a:solidFill>
                <a:latin typeface="Arial"/>
                <a:ea typeface="Arial"/>
                <a:cs typeface="Arial"/>
              </a:defRPr>
            </a:pPr>
            <a:r>
              <a:rPr sz="1050" b="0">
                <a:solidFill>
                  <a:srgbClr val="526272"/>
                </a:solidFill>
                <a:latin typeface="Arial"/>
                <a:ea typeface="Arial"/>
                <a:cs typeface="Arial"/>
              </a:rPr>
              <a:t>7DT · COSMOS1</a:t>
            </a:r>
          </a:p>
        </p:txBody>
      </p:sp>
      <p:sp>
        <p:nvSpPr>
          <p:cNvPr id="5" name="5">
            <a:extLst xmlns:a="http://schemas.openxmlformats.org/drawingml/2006/main">
              <a:ext uri="{FF2B5EF4-FFF2-40B4-BE49-F238E27FC236}">
                <a16:creationId xmlns:a16="http://schemas.microsoft.com/office/drawing/2014/main" id="{D0666EC7-0935-406B-8A7C-482C76C4BC8C}"/>
              </a:ext>
            </a:extLst>
          </p:cNvPr>
          <p:cNvSpPr>
            <a:spLocks xmlns:a="http://schemas.openxmlformats.org/drawingml/2006/main" noGrp="1"/>
          </p:cNvSpPr>
          <p:nvPr/>
        </p:nvSpPr>
        <p:spPr>
          <a:xfrm xmlns:a="http://schemas.openxmlformats.org/drawingml/2006/main">
            <a:off x="11239500" y="64770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0">
                <a:solidFill>
                  <a:srgbClr val="526272"/>
                </a:solidFill>
                <a:latin typeface="Arial"/>
                <a:ea typeface="Arial"/>
                <a:cs typeface="Arial"/>
              </a:defRPr>
            </a:pPr>
            <a:r>
              <a:rPr sz="1050" b="0">
                <a:solidFill>
                  <a:srgbClr val="526272"/>
                </a:solidFill>
                <a:latin typeface="Arial"/>
                <a:ea typeface="Arial"/>
                <a:cs typeface="Arial"/>
              </a:rPr>
              <a:t>5</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3c5fd309bd81492d"/>
          <a:stretch xmlns:a="http://schemas.openxmlformats.org/drawingml/2006/main"/>
        </p:blipFill>
        <p:spPr>
          <a:xfrm xmlns:a="http://schemas.openxmlformats.org/drawingml/2006/main">
            <a:off x="1296853" y="1409700"/>
            <a:ext cx="3721368" cy="3143250"/>
          </a:xfrm>
          <a:prstGeom xmlns:a="http://schemas.openxmlformats.org/drawingml/2006/main" prst="rect">
            <a:avLst/>
          </a:prstGeom>
        </p:spPr>
      </p:pic>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f28a1b36b01d4474"/>
          <a:stretch xmlns:a="http://schemas.openxmlformats.org/drawingml/2006/main"/>
        </p:blipFill>
        <p:spPr>
          <a:xfrm xmlns:a="http://schemas.openxmlformats.org/drawingml/2006/main">
            <a:off x="7126153" y="1409700"/>
            <a:ext cx="3721368" cy="3143250"/>
          </a:xfrm>
          <a:prstGeom xmlns:a="http://schemas.openxmlformats.org/drawingml/2006/main" prst="rect">
            <a:avLst/>
          </a:prstGeom>
        </p:spPr>
      </p:pic>
      <p:graphicFrame>
        <p:nvGraphicFramePr>
          <p:cNvPr id="16" name=""/>
          <p:cNvGraphicFramePr/>
          <p:nvPr/>
        </p:nvGraphicFramePr>
        <p:xfrm>
          <a:off xmlns:a="http://schemas.openxmlformats.org/drawingml/2006/main" x="2266950" y="4695825"/>
          <a:ext xmlns:a="http://schemas.openxmlformats.org/drawingml/2006/main" cx="7658100" cy="1400175"/>
        </p:xfrm>
        <a:graphic xmlns:a="http://schemas.openxmlformats.org/drawingml/2006/main">
          <a:graphicData uri="http://schemas.openxmlformats.org/drawingml/2006/table">
            <a:tbl>
              <a:tblPr/>
              <a:tblGrid>
                <a:gridCol w="5238750"/>
                <a:gridCol w="2419350"/>
              </a:tblGrid>
              <a:tr h="280035">
                <a:tc>
                  <a:txBody>
                    <a:bodyPr>
                      <a:noAutofit/>
                    </a:bodyPr>
                    <a:lstStyle/>
                    <a:p>
                      <a:pPr algn="l"/>
                      <a:r>
                        <a:rPr sz="1275" b="1">
                          <a:solidFill>
                            <a:srgbClr val="152334"/>
                          </a:solidFill>
                          <a:latin typeface="Arial"/>
                          <a:ea typeface="Arial"/>
                          <a:cs typeface="Arial"/>
                        </a:rPr>
                        <a:t>Master class</a:t>
                      </a:r>
                    </a:p>
                  </a:txBody>
                  <a:tcPr marL="91440" marR="91440" marT="45720" marB="45720" anchor="ctr">
                    <a:solidFill>
                      <a:srgbClr val="E8F1F8"/>
                    </a:solidFill>
                  </a:tcPr>
                </a:tc>
                <a:tc>
                  <a:txBody>
                    <a:bodyPr>
                      <a:noAutofit/>
                    </a:bodyPr>
                    <a:lstStyle/>
                    <a:p>
                      <a:pPr algn="r"/>
                      <a:r>
                        <a:rPr sz="1275" b="1">
                          <a:solidFill>
                            <a:srgbClr val="152334"/>
                          </a:solidFill>
                          <a:latin typeface="Arial"/>
                          <a:ea typeface="Arial"/>
                          <a:cs typeface="Arial"/>
                        </a:rPr>
                        <a:t>Objects</a:t>
                      </a:r>
                    </a:p>
                  </a:txBody>
                  <a:tcPr marL="91440" marR="91440" marT="45720" marB="45720" anchor="ctr">
                    <a:solidFill>
                      <a:srgbClr val="E8F1F8"/>
                    </a:solidFill>
                  </a:tcPr>
                </a:tc>
              </a:tr>
              <a:tr h="280035">
                <a:tc>
                  <a:txBody>
                    <a:bodyPr>
                      <a:noAutofit/>
                    </a:bodyPr>
                    <a:lstStyle/>
                    <a:p>
                      <a:pPr algn="l"/>
                      <a:r>
                        <a:rPr sz="1275" b="0">
                          <a:solidFill>
                            <a:srgbClr val="152334"/>
                          </a:solidFill>
                          <a:latin typeface="Arial"/>
                          <a:ea typeface="Arial"/>
                          <a:cs typeface="Arial"/>
                        </a:rPr>
                        <a:t>7DT + FINALCAT</a:t>
                      </a:r>
                    </a:p>
                  </a:txBody>
                  <a:tcPr marL="91440" marR="91440" marT="45720" marB="45720" anchor="ctr">
                    <a:solidFill>
                      <a:srgbClr val="FFFFFF"/>
                    </a:solidFill>
                  </a:tcPr>
                </a:tc>
                <a:tc>
                  <a:txBody>
                    <a:bodyPr>
                      <a:noAutofit/>
                    </a:bodyPr>
                    <a:lstStyle/>
                    <a:p>
                      <a:pPr algn="r"/>
                      <a:r>
                        <a:rPr sz="1275" b="0">
                          <a:solidFill>
                            <a:srgbClr val="152334"/>
                          </a:solidFill>
                          <a:latin typeface="Arial"/>
                          <a:ea typeface="Arial"/>
                          <a:cs typeface="Arial"/>
                        </a:rPr>
                        <a:t>2,977</a:t>
                      </a:r>
                    </a:p>
                  </a:txBody>
                  <a:tcPr marL="91440" marR="91440" marT="45720" marB="45720" anchor="ctr">
                    <a:solidFill>
                      <a:srgbClr val="FFFFFF"/>
                    </a:solidFill>
                  </a:tcPr>
                </a:tc>
              </a:tr>
              <a:tr h="280035">
                <a:tc>
                  <a:txBody>
                    <a:bodyPr>
                      <a:noAutofit/>
                    </a:bodyPr>
                    <a:lstStyle/>
                    <a:p>
                      <a:pPr algn="l"/>
                      <a:r>
                        <a:rPr sz="1275" b="0">
                          <a:solidFill>
                            <a:srgbClr val="152334"/>
                          </a:solidFill>
                          <a:latin typeface="Arial"/>
                          <a:ea typeface="Arial"/>
                          <a:cs typeface="Arial"/>
                        </a:rPr>
                        <a:t>7DT only</a:t>
                      </a:r>
                    </a:p>
                  </a:txBody>
                  <a:tcPr marL="91440" marR="91440" marT="45720" marB="45720" anchor="ctr">
                    <a:solidFill>
                      <a:srgbClr val="FFFFFF"/>
                    </a:solidFill>
                  </a:tcPr>
                </a:tc>
                <a:tc>
                  <a:txBody>
                    <a:bodyPr>
                      <a:noAutofit/>
                    </a:bodyPr>
                    <a:lstStyle/>
                    <a:p>
                      <a:pPr algn="r"/>
                      <a:r>
                        <a:rPr sz="1275" b="0">
                          <a:solidFill>
                            <a:srgbClr val="152334"/>
                          </a:solidFill>
                          <a:latin typeface="Arial"/>
                          <a:ea typeface="Arial"/>
                          <a:cs typeface="Arial"/>
                        </a:rPr>
                        <a:t>16,512</a:t>
                      </a:r>
                    </a:p>
                  </a:txBody>
                  <a:tcPr marL="91440" marR="91440" marT="45720" marB="45720" anchor="ctr">
                    <a:solidFill>
                      <a:srgbClr val="FFFFFF"/>
                    </a:solidFill>
                  </a:tcPr>
                </a:tc>
              </a:tr>
              <a:tr h="280035">
                <a:tc>
                  <a:txBody>
                    <a:bodyPr>
                      <a:noAutofit/>
                    </a:bodyPr>
                    <a:lstStyle/>
                    <a:p>
                      <a:pPr algn="l"/>
                      <a:r>
                        <a:rPr sz="1275" b="0">
                          <a:solidFill>
                            <a:srgbClr val="152334"/>
                          </a:solidFill>
                          <a:latin typeface="Arial"/>
                          <a:ea typeface="Arial"/>
                          <a:cs typeface="Arial"/>
                        </a:rPr>
                        <a:t>FINALCAT only</a:t>
                      </a:r>
                    </a:p>
                  </a:txBody>
                  <a:tcPr marL="91440" marR="91440" marT="45720" marB="45720" anchor="ctr">
                    <a:solidFill>
                      <a:srgbClr val="FFFFFF"/>
                    </a:solidFill>
                  </a:tcPr>
                </a:tc>
                <a:tc>
                  <a:txBody>
                    <a:bodyPr>
                      <a:noAutofit/>
                    </a:bodyPr>
                    <a:lstStyle/>
                    <a:p>
                      <a:pPr algn="r"/>
                      <a:r>
                        <a:rPr sz="1275" b="0">
                          <a:solidFill>
                            <a:srgbClr val="152334"/>
                          </a:solidFill>
                          <a:latin typeface="Arial"/>
                          <a:ea typeface="Arial"/>
                          <a:cs typeface="Arial"/>
                        </a:rPr>
                        <a:t>55,770</a:t>
                      </a:r>
                    </a:p>
                  </a:txBody>
                  <a:tcPr marL="91440" marR="91440" marT="45720" marB="45720" anchor="ctr">
                    <a:solidFill>
                      <a:srgbClr val="FFFFFF"/>
                    </a:solidFill>
                  </a:tcPr>
                </a:tc>
              </a:tr>
              <a:tr h="280035">
                <a:tc>
                  <a:txBody>
                    <a:bodyPr>
                      <a:noAutofit/>
                    </a:bodyPr>
                    <a:lstStyle/>
                    <a:p>
                      <a:pPr algn="l"/>
                      <a:r>
                        <a:rPr sz="1275" b="1">
                          <a:solidFill>
                            <a:srgbClr val="1765A3"/>
                          </a:solidFill>
                          <a:latin typeface="Arial"/>
                          <a:ea typeface="Arial"/>
                          <a:cs typeface="Arial"/>
                        </a:rPr>
                        <a:t>Total union catalog</a:t>
                      </a:r>
                    </a:p>
                  </a:txBody>
                  <a:tcPr marL="91440" marR="91440" marT="45720" marB="45720" anchor="ctr">
                    <a:solidFill>
                      <a:srgbClr val="EEF6FC"/>
                    </a:solidFill>
                  </a:tcPr>
                </a:tc>
                <a:tc>
                  <a:txBody>
                    <a:bodyPr>
                      <a:noAutofit/>
                    </a:bodyPr>
                    <a:lstStyle/>
                    <a:p>
                      <a:pPr algn="r"/>
                      <a:r>
                        <a:rPr sz="1275" b="1">
                          <a:solidFill>
                            <a:srgbClr val="1765A3"/>
                          </a:solidFill>
                          <a:latin typeface="Arial"/>
                          <a:ea typeface="Arial"/>
                          <a:cs typeface="Arial"/>
                        </a:rPr>
                        <a:t>75,259</a:t>
                      </a:r>
                    </a:p>
                  </a:txBody>
                  <a:tcPr marL="91440" marR="91440" marT="45720" marB="45720" anchor="ctr">
                    <a:solidFill>
                      <a:srgbClr val="EEF6FC"/>
                    </a:solidFill>
                  </a:tcPr>
                </a:tc>
              </a:tr>
            </a:tbl>
          </a:graphicData>
        </a:graphic>
      </p:graphicFrame>
    </p:spTree>
    <p:extLst>
      <p:ext uri="{BB962C8B-B14F-4D97-AF65-F5344CB8AC3E}">
        <p14:creationId xmlns:p14="http://schemas.microsoft.com/office/powerpoint/2010/main" val="76549742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2026-10-01T16:54:46.2050000Z</dcterms:created>
  <dcterms:modified xsi:type="dcterms:W3CDTF">2026-10-01T16:54:46.2050000Z</dcterms:modified>
</coreProperties>
</file>